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ee31691-ecca-f14a-869d-c1f7ceb46d2e}">
          <p14:sldIdLst>
            <p14:sldId id="256"/>
            <p14:sldId id="257"/>
            <p14:sldId id="258"/>
          </p14:sldIdLst>
        </p14:section>
        <p14:section name="1부 데이터시트 검색" id="{9f7991bc-d013-3e53-3e21-2a1e462f00d2}">
          <p14:sldIdLst>
            <p14:sldId id="259"/>
            <p14:sldId id="260"/>
            <p14:sldId id="261"/>
            <p14:sldId id="262"/>
            <p14:sldId id="263"/>
            <p14:sldId id="264"/>
            <p14:sldId id="265"/>
          </p14:sldIdLst>
        </p14:section>
        <p14:section name="2부 회로 설계" id="{98da1355-9efc-d1d1-59b2-f18c2bdb481f}">
          <p14:sldIdLst>
            <p14:sldId id="266"/>
            <p14:sldId id="267"/>
            <p14:sldId id="268"/>
          </p14:sldIdLst>
        </p14:section>
        <p14:section name="3부 문서 관리" id="{28721cd2-91a2-0094-71be-a8cd011efa11}">
          <p14:sldIdLst>
            <p14:sldId id="269"/>
          </p14:sldIdLst>
        </p14:section>
        <p14:section name="마무리" id="{8d58ee72-d4e8-997d-c13f-27cd9b1cc9b9}">
          <p14:sldIdLst>
            <p14:sldId id="270"/>
          </p14:sldIdLst>
        </p14:section>
        <p14:section name="부록: 질문 대비" id="{d7399c87-5d23-6001-bd5f-13a87e1ecbe7}">
          <p14:sldIdLst>
            <p14:sldId id="271"/>
            <p14:sldId id="272"/>
            <p14:sldId id="273"/>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자기소개서 2번에 쓴 두 경험과 평소 문서를 관리하는 방식입니다. 데이터시트 검색 도구, IDEC 회로설계 프로젝트, 그리고 노션 대신 직접 만든 문서 관리 화면입니다. 세 작업 모두 AI 에 일을 맡기기 전에 결과를 받아들일 기준을 먼저 정했고, 그 기준을 눈이 아니라 검사로 확인했습니다. 첫 번째는 허브 보드를 설계하면서 실제로 겪은 문제에서 출발한 도구입니다. 핵심은 많이 찾는 것이 아니라 틀린 근거로 답하지 않는 것입니다. 시연은 ZIP 맨 위의 시연.html 로 보여 드립니다. 설치 없이 브라우저만으로 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작업 모두 같은 순서였습니다. 기준을 먼저 쓰고, AI 로 구현하고, 결과는 검사로 받아들였습니다.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숫자는 전부 스크립트 출력에서 가져왔습니다. 전수 검사와 기준값 결정은 API 키 없이 누구나 다시 돌려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CH334U 와 CH334R 은 같은 표의 바로 옆 칸입니다. 검색이 CH334R 의 QSOP16 을 근거로 가져오면 핀 배치가 통째로 틀립니다. 13종에는 주변 부품 두 개와 패키지 코드 하나가 섞여 있다는 점도 먼저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검색기는 점수가 낮아도 상위 5개를 돌려줍니다. 처음에는 그걸 그대로 넘겨서, 없는 사양을 설명하는 답이 나왔습니다. 그래서 순서를 바꿨습니다. 답할 조건을 먼저 정하고 나서 모델을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구현 속도는 도구로 얻고, 무엇을 근거로 볼지와 언제 멈출지는 제가 정했습니다. 맡긴 코드는 읽고 끝내지 않고 전수 검사와 평가셋 결과로 받아들였습니다.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주황색 세 단계가 답하지 않을 조건입니다. 품번이 다르거나, 품번이 문서에 없거나, 묻는 대상이 근거에 없으면 모델을 부르지 않습니다. 시연 화면도 이 일곱 단계를 그대로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있는 질문만 넣으면 기준을 낮출수록 성적이 좋아집니다. 그래서 문서에 없는 질문 10개를 같이 넣었습니다. 점수로는 AEC-Q100 질문을 막을 수 없었고, 질문 용어가 근거에 실제로 나오는지를 보니 두 집단이 넓게 갈렸습니다. 38문항으로 정한 값이라 새 질문 유형에서는 다시 확인해야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검색과 판정 기준은 고정하고 답변 모델만 바꿨습니다. 클라우드 모델 Fable 5.1 은 스크립트까지 준비했고 비용 때문에 실행하지 못했습니다. 대신 무료 로컬 모델 두 개로 같은 절차를 끝까지 돌렸습니다. 정답률 하나로 고르면 결론이 뒤집혀서, 유형별로 그리고 엄격 기준으로 나눠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검색기 하나로 어느 부품이든 질문은 받습니다. 답하는 것은 데이터시트를 등록한 부품뿐이고, 나머지는 등록되지 않았다고 답합니다. 근거가 없으면 답하지 않는다는 원칙을 부품 범위에도 그대로 적용했습니다.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도면을 눈으로 보는 검증은 있는 것은 잡아도 없는 것은 못 잡습니다. 없는 배선은 그려지지 않기 때문입니다. 그래서 회로도를 코드로 생성하고, 넷리스트를 기계로 검사했습니다. 검사기는 지금 이 자리에서 돌려 보일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1부의 원문 대조와 같은 한계입니다. 검사가 보지 않는 종류의 결함은 통과합니다. 그래서 놓친 종류를 검사로 추가하고, 못 한 것은 미해결로 적어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자소서 2번의 두 번째 경험입니다. 관리할 사람이 따로 없는 2인 팀이라, 규격을 한 번 쓰는 데 시간을 쓰고 매번 형식을 다시 정하는 시간을 줄였습니다. 규칙을 문서에만 두면 지켜지지 않아서, 모호한 완료 조건 금지를 검사기로 강제했습니다.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노션은 정해진 블록과 데이터베이스 안에서만 화면을 만들 수 있어서, 프로젝트 파일에 있는 값은 옮겨 적어야 했고 옮겨 적은 값은 금방 어긋났습니다. 제 일에 맞춘 화면을 직접 만드는 것이 가장 효율적인데, 예전에는 그 비용이 컸습니다. 지금은 구조와 규칙만 정하면 구현은 Claude 로 하루 안에 끝납니다. 데이터는 제 PC 의 파일이고 페이지는 외부로 요청을 보내지 않습니다. 다만 만드는 동안 Claude 가 작업 폴더를 읽는 것은 맞습니다. 그래서 보안은 저장과 열람이 PC 안에서 끝나고, 밖으로 내보낼 범위를 스크립트가 정한다는 뜻으로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사내 문서는 외부 API 로 보내지 않고 로컬 모델로 돌리는 구성도 이미 해 봤습니다. 자료를 찾고 정리하는 부담을 줄이고, 회로 성능과 검증 결과 해석에 시간을 쓰려는 것이 목적입니다. 한계는 숨기지 않고 다음 단계로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본편은 여기까지입니다. 아래 장은 질문이 나오면 해당 쪽으로 바로 넘어가 보여 드립니다. 슬라이드 쇼에서 번호를 누르고 Enter 를 치면 그 쪽으로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규칙이 중요합니다. 전기적 특성 표에는 품번이 안 적혀 있어서, 품번이 적힌 청크만 남기면 동작 전압 같은 공통 사양을 못 찾습니다. 1,000건은 13종 각각에 대해 게이트를 통과한 청크를 하나도 빼지 않고 확인한 숫자입니다.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게이트는 통과했는데 정작 답이 있는 표가 안 나오는 경우였습니다. 한국어 조사가 품번에 붙으면(CH334U는) 품번 색인이 안 되는 문제도 같은 시기에 찾아 고쳤습니다. 두 가지 모두 단위 테스트로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검사 모두 결정적이라 같은 답이면 같은 판정이 나옵니다. 수치 검사의 한계는 분명해서, 평가에서는 정답 사실 포함 여부와 다른 변종 값 혼입을 함께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검토도 AI 에게 맡겼지만, 받아들이는 기준은 재현이었습니다. 다섯 가지 모두 같은 입력으로 다시 돌려 확인했고, 고친 뒤에는 그 입력을 회귀 테스트로 남겼습니다.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버튼이 이 네 시나리오입니다. 각 단계 카드에서 무엇이 통과하고 무엇이 막혔는지 그대로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기준을 통과했을 때만 모델을 부르고, 답의 인용 페이지와 수치를 원문과 다시 맞춥니다. 화면의 답은 평가 1회차 기록입니다. 2, 3회차에는 같은 질문에 전형값 3.3 V 를 빠뜨려 오답이었는데, 원문 대조는 세 번 모두 통과했습니다. 원문 대조는 근거 밖 정보를 막을 뿐 정답을 보장하지 않아서, 평가에서는 정답 사실을 따로 채점합니다.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품번은 맞지만 HDMI 가 근거에 없습니다. 모델을 부르지 않고 정해진 문장으로 답합니다. 토큰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회로 기호로 물어도 BOM 으로 품번을 찾아 그 데이터시트 한 권에서만 찾습니다. 같은 문서 안에서도 B, C 변종 전용 내용은 게이트에서 뺍니다. 답은 400 kHz, 4쪽 비교표입니다.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부품을 넣을 때 사람이 하는 일은 세 가지입니다. 데이터시트 확보, 주문 정보 표를 보고 변종 규칙 한 줄 쓰기, 평가 질문 몇 개 쓰기. 나머지 BOM 대응, 문서 선택, 게이트, 검수는 자동입니다. 절차는 docs/EXTENDING.md 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네 가지 검사는 검사기가 기계로 돌립니다. 마지막 정본 대조, 즉 회로도가 지그 절차서와 규격이 전제한 것과 같은지가 절반을 찾았습니다. 회로도가 그 자체로는 모순이 없는데 지그가 가정한 것과 달라서, 증상이 실기 시험에서야 나타나는 종류입니다.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가장 배운 것이 많았습니다. 완료 조건이 실제 요구사항이 아니라 대용치였고, 그 대용치가 시뮬레이션 오류 위에 세워져 있었습니다. 수치를 고친 뒤 기준을 넘었지만, 실제 요구인 손실로 다시 재니 문제가 없었습니다.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IDEC 페이지는 2부 프로젝트의 넷리스트 파일에서 직접 값을 읽습니다. 노션에 옮겨 적었다면 회로가 바뀔 때마다 어긋났을 값입니다. 규칙은 1부, 2부와 같습니다. 정본을 하나로 두고, 뽑아낸 파일은 손으로 고치지 않고, 밖으로 내보낼 때는 스크립트가 거르고 검사합니다. 오늘 낸 제출본도 그 스크립트로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202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11094415" cy="457200"/>
          </a:xfrm>
          <a:prstGeom prst="rect">
            <a:avLst/>
          </a:prstGeom>
          <a:noFill/>
          <a:ln/>
        </p:spPr>
        <p:txBody>
          <a:bodyPr wrap="square" rtlCol="0"/>
          <a:lstStyle>
            <a:lvl1pPr indent="0" marL="0">
              <a:buNone/>
              <a:defRPr lang="en-US" sz="1600" b="1" dirty="0">
                <a:solidFill>
                  <a:srgbClr val="AEB6BF"/>
                </a:solidFill>
                <a:latin typeface="Malgun Gothic" pitchFamily="34" charset="0"/>
                <a:ea typeface="Malgun Gothic" pitchFamily="34" charset="-122"/>
                <a:cs typeface="Malgun Gothic" pitchFamily="34" charset="-120"/>
              </a:defRPr>
            </a:lvl1pPr>
          </a:lstStyle>
          <a:p>
            <a:pPr indent="0" marL="0">
              <a:buNone/>
            </a:pPr>
            <a:endParaRPr lang="en-US" sz="1600" dirty="0"/>
          </a:p>
        </p:txBody>
      </p:sp>
      <p:sp>
        <p:nvSpPr>
          <p:cNvPr id="3" name="Text 0"/>
          <p:cNvSpPr/>
          <p:nvPr>
            <p:ph idx="101" type="title" hasCustomPrompt="1"/>
          </p:nvPr>
        </p:nvSpPr>
        <p:spPr>
          <a:xfrm>
            <a:off x="548640" y="1920240"/>
            <a:ext cx="11094415" cy="1737360"/>
          </a:xfrm>
          <a:prstGeom prst="rect">
            <a:avLst/>
          </a:prstGeom>
          <a:noFill/>
          <a:ln/>
        </p:spPr>
        <p:txBody>
          <a:bodyPr wrap="square" rtlCol="0"/>
          <a:lstStyle>
            <a:lvl1pPr algn="l" indent="0" marL="0">
              <a:buNone/>
              <a:defRPr lang="en-US" sz="4000" b="1" dirty="0">
                <a:solidFill>
                  <a:srgbClr val="FFFFFF"/>
                </a:solidFill>
                <a:latin typeface="Malgun Gothic" pitchFamily="34" charset="0"/>
                <a:ea typeface="Malgun Gothic" pitchFamily="34" charset="-122"/>
                <a:cs typeface="Malgun Gothic" pitchFamily="34" charset="-120"/>
              </a:defRPr>
            </a:lvl1pPr>
          </a:lstStyle>
          <a:p>
            <a:pPr algn="l" indent="0" marL="0">
              <a:buNone/>
            </a:pPr>
            <a:endParaRPr lang="en-US" sz="4000" dirty="0"/>
          </a:p>
        </p:txBody>
      </p:sp>
      <p:sp>
        <p:nvSpPr>
          <p:cNvPr id="4" name="Text 0"/>
          <p:cNvSpPr/>
          <p:nvPr>
            <p:ph idx="102" type="body" hasCustomPrompt="1"/>
          </p:nvPr>
        </p:nvSpPr>
        <p:spPr>
          <a:xfrm>
            <a:off x="548640" y="3840480"/>
            <a:ext cx="11094415" cy="1280160"/>
          </a:xfrm>
          <a:prstGeom prst="rect">
            <a:avLst/>
          </a:prstGeom>
          <a:noFill/>
          <a:ln/>
        </p:spPr>
        <p:txBody>
          <a:bodyPr wrap="square" rtlCol="0"/>
          <a:lstStyle>
            <a:lvl1pPr indent="0" marL="0">
              <a:buNone/>
              <a:defRPr lang="en-US" sz="1800" dirty="0">
                <a:solidFill>
                  <a:srgbClr val="D5DAE0"/>
                </a:solidFill>
                <a:latin typeface="Malgun Gothic" pitchFamily="34" charset="0"/>
                <a:ea typeface="Malgun Gothic" pitchFamily="34" charset="-122"/>
                <a:cs typeface="Malgun Gothic"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algn="l" indent="0" marL="0">
              <a:buNone/>
              <a:defRPr lang="en-US" sz="3000" b="1" dirty="0">
                <a:solidFill>
                  <a:srgbClr val="1F2328"/>
                </a:solidFill>
                <a:latin typeface="Malgun Gothic" pitchFamily="34" charset="0"/>
                <a:ea typeface="Malgun Gothic" pitchFamily="34" charset="-122"/>
                <a:cs typeface="Malgun Gothic" pitchFamily="34" charset="-120"/>
              </a:defRPr>
            </a:lvl1pPr>
          </a:lstStyle>
          <a:p>
            <a:pPr algn="l" indent="0" marL="0">
              <a:buNone/>
            </a:pPr>
            <a:endParaRPr lang="en-US" sz="30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rgbClr val="5B6168"/>
                </a:solidFill>
                <a:latin typeface="Malgun Gothic" pitchFamily="34" charset="0"/>
                <a:ea typeface="Malgun Gothic" pitchFamily="34" charset="-122"/>
                <a:cs typeface="Malgun Gothic" pitchFamily="34" charset="-120"/>
              </a:rPr>
              <a:t>AX 사전과제  |  허윤</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11094415" cy="457200"/>
          </a:xfrm>
          <a:prstGeom prst="rect">
            <a:avLst/>
          </a:prstGeom>
          <a:noFill/>
          <a:ln/>
        </p:spPr>
        <p:txBody>
          <a:bodyPr wrap="square" rtlCol="0"/>
          <a:lstStyle/>
          <a:p>
            <a:pPr indent="0" marL="0">
              <a:buNone/>
            </a:pPr>
            <a:r>
              <a:rPr lang="en-US" sz="1600" b="1" dirty="0">
                <a:solidFill>
                  <a:srgbClr val="AEB6BF"/>
                </a:solidFill>
                <a:latin typeface="Malgun Gothic" pitchFamily="34" charset="0"/>
                <a:ea typeface="Malgun Gothic" pitchFamily="34" charset="-122"/>
                <a:cs typeface="Malgun Gothic" pitchFamily="34" charset="-120"/>
              </a:rPr>
              <a:t>LG디스플레이 AX 전형 사전과제  |  자기소개서 2번 항목  |  허윤</a:t>
            </a:r>
            <a:endParaRPr lang="en-US" sz="1600" dirty="0"/>
          </a:p>
        </p:txBody>
      </p:sp>
      <p:sp>
        <p:nvSpPr>
          <p:cNvPr id="3" name="Text 0"/>
          <p:cNvSpPr/>
          <p:nvPr>
            <p:ph idx="101" type="title" hasCustomPrompt="1"/>
          </p:nvPr>
        </p:nvSpPr>
        <p:spPr>
          <a:xfrm>
            <a:off x="548640" y="1920240"/>
            <a:ext cx="11094415" cy="1737360"/>
          </a:xfrm>
          <a:prstGeom prst="rect">
            <a:avLst/>
          </a:prstGeom>
          <a:noFill/>
          <a:ln/>
        </p:spPr>
        <p:txBody>
          <a:bodyPr wrap="square" rtlCol="0" anchor="t"/>
          <a:lstStyle/>
          <a:p>
            <a:pPr algn="l" indent="0" marL="0">
              <a:buNone/>
            </a:pPr>
            <a:r>
              <a:rPr lang="en-US" sz="4000" b="1" dirty="0">
                <a:solidFill>
                  <a:srgbClr val="FFFFFF"/>
                </a:solidFill>
                <a:latin typeface="Malgun Gothic" pitchFamily="34" charset="0"/>
                <a:ea typeface="Malgun Gothic" pitchFamily="34" charset="-122"/>
                <a:cs typeface="Malgun Gothic" pitchFamily="34" charset="-120"/>
              </a:rPr>
              <a:t>AI 에 맡기기 전에</a:t>
            </a:r>
            <a:endParaRPr lang="en-US" sz="4000" dirty="0"/>
          </a:p>
          <a:p>
            <a:pPr algn="l" indent="0" marL="0">
              <a:buNone/>
            </a:pPr>
            <a:r>
              <a:rPr lang="en-US" sz="4000" b="1" dirty="0">
                <a:solidFill>
                  <a:srgbClr val="FFFFFF"/>
                </a:solidFill>
                <a:latin typeface="Malgun Gothic" pitchFamily="34" charset="0"/>
                <a:ea typeface="Malgun Gothic" pitchFamily="34" charset="-122"/>
                <a:cs typeface="Malgun Gothic" pitchFamily="34" charset="-120"/>
              </a:rPr>
              <a:t>받아들일 기준을 먼저 정했다</a:t>
            </a:r>
            <a:endParaRPr lang="en-US" sz="4000" dirty="0"/>
          </a:p>
        </p:txBody>
      </p:sp>
      <p:sp>
        <p:nvSpPr>
          <p:cNvPr id="4" name="Text 0"/>
          <p:cNvSpPr/>
          <p:nvPr>
            <p:ph idx="102" type="body" hasCustomPrompt="1"/>
          </p:nvPr>
        </p:nvSpPr>
        <p:spPr>
          <a:xfrm>
            <a:off x="548640" y="3840480"/>
            <a:ext cx="11094415" cy="1280160"/>
          </a:xfrm>
          <a:prstGeom prst="rect">
            <a:avLst/>
          </a:prstGeom>
          <a:noFill/>
          <a:ln/>
        </p:spPr>
        <p:txBody>
          <a:bodyPr wrap="square" rtlCol="0" anchor="t"/>
          <a:lstStyle/>
          <a:p>
            <a:pPr indent="0" marL="0">
              <a:buNone/>
            </a:pPr>
            <a:r>
              <a:rPr lang="en-US" sz="1800" dirty="0">
                <a:solidFill>
                  <a:srgbClr val="D5DAE0"/>
                </a:solidFill>
                <a:latin typeface="Malgun Gothic" pitchFamily="34" charset="0"/>
                <a:ea typeface="Malgun Gothic" pitchFamily="34" charset="-122"/>
                <a:cs typeface="Malgun Gothic" pitchFamily="34" charset="-120"/>
              </a:rPr>
              <a:t>1부  데이터시트 검색 도구: 근거가 부족하면 언어모델을 부르지 않는다</a:t>
            </a:r>
            <a:endParaRPr lang="en-US" sz="1800" dirty="0"/>
          </a:p>
          <a:p>
            <a:pPr indent="0" marL="0">
              <a:buNone/>
            </a:pPr>
            <a:r>
              <a:rPr lang="en-US" sz="1800" dirty="0">
                <a:solidFill>
                  <a:srgbClr val="D5DAE0"/>
                </a:solidFill>
                <a:latin typeface="Malgun Gothic" pitchFamily="34" charset="0"/>
                <a:ea typeface="Malgun Gothic" pitchFamily="34" charset="-122"/>
                <a:cs typeface="Malgun Gothic" pitchFamily="34" charset="-120"/>
              </a:rPr>
              <a:t>2부  회로도 코드화와 기계 검증: 통과 조건을 검사기로 강제한다</a:t>
            </a:r>
            <a:endParaRPr lang="en-US" sz="1800" dirty="0"/>
          </a:p>
          <a:p>
            <a:pPr indent="0" marL="0">
              <a:buNone/>
            </a:pPr>
            <a:r>
              <a:rPr lang="en-US" sz="1800" dirty="0">
                <a:solidFill>
                  <a:srgbClr val="D5DAE0"/>
                </a:solidFill>
                <a:latin typeface="Malgun Gothic" pitchFamily="34" charset="0"/>
                <a:ea typeface="Malgun Gothic" pitchFamily="34" charset="-122"/>
                <a:cs typeface="Malgun Gothic" pitchFamily="34" charset="-120"/>
              </a:rPr>
              <a:t>3부  로컬 문서 관리: 노션 대신 직접 만든 화면, 데이터는 내 PC 에만</a:t>
            </a:r>
            <a:endParaRPr lang="en-US" sz="1800" dirty="0"/>
          </a:p>
        </p:txBody>
      </p:sp>
      <p:sp>
        <p:nvSpPr>
          <p:cNvPr id="5" name="Text 3"/>
          <p:cNvSpPr txBox="1"/>
          <p:nvPr/>
        </p:nvSpPr>
        <p:spPr>
          <a:xfrm>
            <a:off x="548640" y="6035040"/>
            <a:ext cx="2743200" cy="365760"/>
          </a:xfrm>
          <a:prstGeom prst="rect">
            <a:avLst/>
          </a:prstGeom>
          <a:noFill/>
          <a:ln/>
        </p:spPr>
        <p:txBody>
          <a:bodyPr wrap="square" lIns="0" tIns="0" rIns="0" bIns="0" rtlCol="0" anchor="t"/>
          <a:lstStyle/>
          <a:p>
            <a:pPr indent="0" marL="0">
              <a:buNone/>
            </a:pPr>
            <a:r>
              <a:rPr lang="en-US" sz="1400" dirty="0">
                <a:solidFill>
                  <a:srgbClr val="AEB6BF"/>
                </a:solidFill>
                <a:latin typeface="Malgun Gothic" pitchFamily="34" charset="0"/>
                <a:ea typeface="Malgun Gothic" pitchFamily="34" charset="-122"/>
                <a:cs typeface="Malgun Gothic" pitchFamily="34" charset="-120"/>
              </a:rPr>
              <a:t>2026.10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세 작업, 같은 방식</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377440"/>
                <a:gridCol w="4389120"/>
                <a:gridCol w="4327855"/>
              </a:tblGrid>
              <a:tr h="685800">
                <a:tc>
                  <a:txBody>
                    <a:bodyPr/>
                    <a:lstStyle/>
                    <a:p>
                      <a:pPr indent="0" marL="0">
                        <a:buNone/>
                      </a:pP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직접 정한 기준</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기준을 확인한 방법</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68580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1부 데이터시트 검색</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다른 변종의 근거는 쓰지 않는다. 근거가 부족하면 답하지 않는다</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품번 13종별로 게이트를 통과한 청크 1,000건 전수 검사, 평가셋 38문항</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68580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2부 회로도</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연결 정본은 도면이 아니라 코드. 통과 조건을 검사기로 강제</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넷리스트 검사 9항목과 ERC. 검사가 놓친 결함은 검사로 추가</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68580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2부 팀 운영</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“동작 확인” 같은 모호한 완료 조건 금지</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작업 51개에 측정 가능한 완료 조건 280개. 검사기로 강제</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68580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3부 문서 관리</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정본은 파일 하나. 밖으로 내보낼 범위는 스크립트가 정한다</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제출본을 만드는 스크립트가 뺀 페이지의 내용이 남았는지 검사</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4" name="overview-msg"/>
          <p:cNvSpPr/>
          <p:nvPr/>
        </p:nvSpPr>
        <p:spPr>
          <a:xfrm>
            <a:off x="548640" y="5120640"/>
            <a:ext cx="11094415" cy="960120"/>
          </a:xfrm>
          <a:prstGeom prst="roundRect">
            <a:avLst>
              <a:gd name="adj" fmla="val 7619"/>
            </a:avLst>
          </a:prstGeom>
          <a:solidFill>
            <a:srgbClr val="E8F1FC"/>
          </a:solidFill>
          <a:ln/>
        </p:spPr>
      </p:sp>
      <p:sp>
        <p:nvSpPr>
          <p:cNvPr id="5" name="Text 2"/>
          <p:cNvSpPr txBox="1"/>
          <p:nvPr/>
        </p:nvSpPr>
        <p:spPr>
          <a:xfrm>
            <a:off x="868680" y="5230368"/>
            <a:ext cx="10454335" cy="731520"/>
          </a:xfrm>
          <a:prstGeom prst="rect">
            <a:avLst/>
          </a:prstGeom>
          <a:noFill/>
          <a:ln/>
        </p:spPr>
        <p:txBody>
          <a:bodyPr wrap="square" lIns="0" tIns="0" rIns="0" bIns="0" rtlCol="0" anchor="ctr"/>
          <a:lstStyle/>
          <a:p>
            <a:pPr indent="0" marL="0">
              <a:buNone/>
            </a:pPr>
            <a:r>
              <a:rPr lang="en-US" sz="1700" b="1" dirty="0">
                <a:solidFill>
                  <a:srgbClr val="1F2328"/>
                </a:solidFill>
                <a:latin typeface="Malgun Gothic" pitchFamily="34" charset="0"/>
                <a:ea typeface="Malgun Gothic" pitchFamily="34" charset="-122"/>
                <a:cs typeface="Malgun Gothic" pitchFamily="34" charset="-120"/>
              </a:rPr>
              <a:t>구현은 Claude 로 했다. 무엇을 근거로 인정하고 언제 멈출지, 결과를 받아들일지는 위 검사 결과로 판단했다.</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1부 데이터시트 검색 도구: 결과 요약</a:t>
            </a:r>
            <a:endParaRPr lang="en-US" sz="3000" dirty="0"/>
          </a:p>
        </p:txBody>
      </p:sp>
      <p:sp>
        <p:nvSpPr>
          <p:cNvPr id="3" name="stat-0"/>
          <p:cNvSpPr/>
          <p:nvPr/>
        </p:nvSpPr>
        <p:spPr>
          <a:xfrm>
            <a:off x="548640" y="1463040"/>
            <a:ext cx="2567864" cy="2377440"/>
          </a:xfrm>
          <a:prstGeom prst="roundRect">
            <a:avLst>
              <a:gd name="adj" fmla="val 3077"/>
            </a:avLst>
          </a:prstGeom>
          <a:solidFill>
            <a:srgbClr val="F3F5F7"/>
          </a:solidFill>
          <a:ln/>
        </p:spPr>
      </p:sp>
      <p:sp>
        <p:nvSpPr>
          <p:cNvPr id="4" name="Text 2"/>
          <p:cNvSpPr txBox="1"/>
          <p:nvPr/>
        </p:nvSpPr>
        <p:spPr>
          <a:xfrm>
            <a:off x="822960" y="1691640"/>
            <a:ext cx="2019224" cy="914400"/>
          </a:xfrm>
          <a:prstGeom prst="rect">
            <a:avLst/>
          </a:prstGeom>
          <a:noFill/>
          <a:ln/>
        </p:spPr>
        <p:txBody>
          <a:bodyPr wrap="square" lIns="0" tIns="0" rIns="0" bIns="0" rtlCol="0" anchor="ctr"/>
          <a:lstStyle/>
          <a:p>
            <a:pPr indent="0" marL="0">
              <a:buNone/>
            </a:pPr>
            <a:r>
              <a:rPr lang="en-US" sz="4400" b="1" dirty="0">
                <a:solidFill>
                  <a:srgbClr val="2A78D6"/>
                </a:solidFill>
                <a:latin typeface="Malgun Gothic" pitchFamily="34" charset="0"/>
                <a:ea typeface="Malgun Gothic" pitchFamily="34" charset="-122"/>
                <a:cs typeface="Malgun Gothic" pitchFamily="34" charset="-120"/>
              </a:rPr>
              <a:t>0건</a:t>
            </a:r>
            <a:endParaRPr lang="en-US" sz="4400" dirty="0"/>
          </a:p>
        </p:txBody>
      </p:sp>
      <p:sp>
        <p:nvSpPr>
          <p:cNvPr id="5" name="Text 3"/>
          <p:cNvSpPr txBox="1"/>
          <p:nvPr/>
        </p:nvSpPr>
        <p:spPr>
          <a:xfrm>
            <a:off x="822960" y="2651760"/>
            <a:ext cx="2019224"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다른 변종 청크 오통과</a:t>
            </a:r>
            <a:endParaRPr lang="en-US" sz="1600" dirty="0"/>
          </a:p>
        </p:txBody>
      </p:sp>
      <p:sp>
        <p:nvSpPr>
          <p:cNvPr id="6" name="Text 4"/>
          <p:cNvSpPr txBox="1"/>
          <p:nvPr/>
        </p:nvSpPr>
        <p:spPr>
          <a:xfrm>
            <a:off x="822960" y="3063240"/>
            <a:ext cx="2019224" cy="64008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품번 13종별 게이트 통과 청크 1,000건 전수 검사</a:t>
            </a:r>
            <a:endParaRPr lang="en-US" sz="1200" dirty="0"/>
          </a:p>
        </p:txBody>
      </p:sp>
      <p:sp>
        <p:nvSpPr>
          <p:cNvPr id="7" name="stat-1"/>
          <p:cNvSpPr/>
          <p:nvPr/>
        </p:nvSpPr>
        <p:spPr>
          <a:xfrm>
            <a:off x="3390824" y="1463040"/>
            <a:ext cx="2567864" cy="2377440"/>
          </a:xfrm>
          <a:prstGeom prst="roundRect">
            <a:avLst>
              <a:gd name="adj" fmla="val 3077"/>
            </a:avLst>
          </a:prstGeom>
          <a:solidFill>
            <a:srgbClr val="F3F5F7"/>
          </a:solidFill>
          <a:ln/>
        </p:spPr>
      </p:sp>
      <p:sp>
        <p:nvSpPr>
          <p:cNvPr id="8" name="Text 6"/>
          <p:cNvSpPr txBox="1"/>
          <p:nvPr/>
        </p:nvSpPr>
        <p:spPr>
          <a:xfrm>
            <a:off x="3665144" y="1691640"/>
            <a:ext cx="2019224" cy="914400"/>
          </a:xfrm>
          <a:prstGeom prst="rect">
            <a:avLst/>
          </a:prstGeom>
          <a:noFill/>
          <a:ln/>
        </p:spPr>
        <p:txBody>
          <a:bodyPr wrap="square" lIns="0" tIns="0" rIns="0" bIns="0" rtlCol="0" anchor="ctr"/>
          <a:lstStyle/>
          <a:p>
            <a:pPr indent="0" marL="0">
              <a:buNone/>
            </a:pPr>
            <a:r>
              <a:rPr lang="en-US" sz="4400" b="1" dirty="0">
                <a:solidFill>
                  <a:srgbClr val="D2551F"/>
                </a:solidFill>
                <a:latin typeface="Malgun Gothic" pitchFamily="34" charset="0"/>
                <a:ea typeface="Malgun Gothic" pitchFamily="34" charset="-122"/>
                <a:cs typeface="Malgun Gothic" pitchFamily="34" charset="-120"/>
              </a:rPr>
              <a:t>10/10</a:t>
            </a:r>
            <a:endParaRPr lang="en-US" sz="4400" dirty="0"/>
          </a:p>
        </p:txBody>
      </p:sp>
      <p:sp>
        <p:nvSpPr>
          <p:cNvPr id="9" name="Text 7"/>
          <p:cNvSpPr txBox="1"/>
          <p:nvPr/>
        </p:nvSpPr>
        <p:spPr>
          <a:xfrm>
            <a:off x="3665144" y="2651760"/>
            <a:ext cx="2019224"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문서에 없는 질문 차단</a:t>
            </a:r>
            <a:endParaRPr lang="en-US" sz="1600" dirty="0"/>
          </a:p>
        </p:txBody>
      </p:sp>
      <p:sp>
        <p:nvSpPr>
          <p:cNvPr id="10" name="Text 8"/>
          <p:cNvSpPr txBox="1"/>
          <p:nvPr/>
        </p:nvSpPr>
        <p:spPr>
          <a:xfrm>
            <a:off x="3665144" y="3063240"/>
            <a:ext cx="2019224" cy="64008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모델 호출 전에 막아 토큰 0</a:t>
            </a:r>
            <a:endParaRPr lang="en-US" sz="1200" dirty="0"/>
          </a:p>
        </p:txBody>
      </p:sp>
      <p:sp>
        <p:nvSpPr>
          <p:cNvPr id="11" name="stat-2"/>
          <p:cNvSpPr/>
          <p:nvPr/>
        </p:nvSpPr>
        <p:spPr>
          <a:xfrm>
            <a:off x="6233008" y="1463040"/>
            <a:ext cx="2567864" cy="2377440"/>
          </a:xfrm>
          <a:prstGeom prst="roundRect">
            <a:avLst>
              <a:gd name="adj" fmla="val 3077"/>
            </a:avLst>
          </a:prstGeom>
          <a:solidFill>
            <a:srgbClr val="F3F5F7"/>
          </a:solidFill>
          <a:ln/>
        </p:spPr>
      </p:sp>
      <p:sp>
        <p:nvSpPr>
          <p:cNvPr id="12" name="Text 10"/>
          <p:cNvSpPr txBox="1"/>
          <p:nvPr/>
        </p:nvSpPr>
        <p:spPr>
          <a:xfrm>
            <a:off x="6507328" y="1691640"/>
            <a:ext cx="2019224" cy="914400"/>
          </a:xfrm>
          <a:prstGeom prst="rect">
            <a:avLst/>
          </a:prstGeom>
          <a:noFill/>
          <a:ln/>
        </p:spPr>
        <p:txBody>
          <a:bodyPr wrap="square" lIns="0" tIns="0" rIns="0" bIns="0" rtlCol="0" anchor="ctr"/>
          <a:lstStyle/>
          <a:p>
            <a:pPr indent="0" marL="0">
              <a:buNone/>
            </a:pPr>
            <a:r>
              <a:rPr lang="en-US" sz="4400" b="1" dirty="0">
                <a:solidFill>
                  <a:srgbClr val="2A78D6"/>
                </a:solidFill>
                <a:latin typeface="Malgun Gothic" pitchFamily="34" charset="0"/>
                <a:ea typeface="Malgun Gothic" pitchFamily="34" charset="-122"/>
                <a:cs typeface="Malgun Gothic" pitchFamily="34" charset="-120"/>
              </a:rPr>
              <a:t>28/28</a:t>
            </a:r>
            <a:endParaRPr lang="en-US" sz="4400" dirty="0"/>
          </a:p>
        </p:txBody>
      </p:sp>
      <p:sp>
        <p:nvSpPr>
          <p:cNvPr id="13" name="Text 11"/>
          <p:cNvSpPr txBox="1"/>
          <p:nvPr/>
        </p:nvSpPr>
        <p:spPr>
          <a:xfrm>
            <a:off x="6507328" y="2651760"/>
            <a:ext cx="2019224"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근거 페이지 검색</a:t>
            </a:r>
            <a:endParaRPr lang="en-US" sz="1600" dirty="0"/>
          </a:p>
        </p:txBody>
      </p:sp>
      <p:sp>
        <p:nvSpPr>
          <p:cNvPr id="14" name="Text 12"/>
          <p:cNvSpPr txBox="1"/>
          <p:nvPr/>
        </p:nvSpPr>
        <p:spPr>
          <a:xfrm>
            <a:off x="6507328" y="3063240"/>
            <a:ext cx="2019224" cy="64008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정답 질문의 기대 페이지가 상위 5개 안 (hit@5)</a:t>
            </a:r>
            <a:endParaRPr lang="en-US" sz="1200" dirty="0"/>
          </a:p>
        </p:txBody>
      </p:sp>
      <p:sp>
        <p:nvSpPr>
          <p:cNvPr id="15" name="stat-3"/>
          <p:cNvSpPr/>
          <p:nvPr/>
        </p:nvSpPr>
        <p:spPr>
          <a:xfrm>
            <a:off x="9075191" y="1463040"/>
            <a:ext cx="2567864" cy="2377440"/>
          </a:xfrm>
          <a:prstGeom prst="roundRect">
            <a:avLst>
              <a:gd name="adj" fmla="val 3077"/>
            </a:avLst>
          </a:prstGeom>
          <a:solidFill>
            <a:srgbClr val="F3F5F7"/>
          </a:solidFill>
          <a:ln/>
        </p:spPr>
      </p:sp>
      <p:sp>
        <p:nvSpPr>
          <p:cNvPr id="16" name="Text 14"/>
          <p:cNvSpPr txBox="1"/>
          <p:nvPr/>
        </p:nvSpPr>
        <p:spPr>
          <a:xfrm>
            <a:off x="9349511" y="1691640"/>
            <a:ext cx="2019224" cy="914400"/>
          </a:xfrm>
          <a:prstGeom prst="rect">
            <a:avLst/>
          </a:prstGeom>
          <a:noFill/>
          <a:ln/>
        </p:spPr>
        <p:txBody>
          <a:bodyPr wrap="square" lIns="0" tIns="0" rIns="0" bIns="0" rtlCol="0" anchor="ctr"/>
          <a:lstStyle/>
          <a:p>
            <a:pPr indent="0" marL="0">
              <a:buNone/>
            </a:pPr>
            <a:r>
              <a:rPr lang="en-US" sz="3200" b="1" dirty="0">
                <a:solidFill>
                  <a:srgbClr val="5B6168"/>
                </a:solidFill>
                <a:latin typeface="Malgun Gothic" pitchFamily="34" charset="0"/>
                <a:ea typeface="Malgun Gothic" pitchFamily="34" charset="-122"/>
                <a:cs typeface="Malgun Gothic" pitchFamily="34" charset="-120"/>
              </a:rPr>
              <a:t>17~21/28</a:t>
            </a:r>
            <a:endParaRPr lang="en-US" sz="3200" dirty="0"/>
          </a:p>
        </p:txBody>
      </p:sp>
      <p:sp>
        <p:nvSpPr>
          <p:cNvPr id="17" name="Text 15"/>
          <p:cNvSpPr txBox="1"/>
          <p:nvPr/>
        </p:nvSpPr>
        <p:spPr>
          <a:xfrm>
            <a:off x="9349511" y="2651760"/>
            <a:ext cx="2019224"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답변 엄격 정답</a:t>
            </a:r>
            <a:endParaRPr lang="en-US" sz="1600" dirty="0"/>
          </a:p>
        </p:txBody>
      </p:sp>
      <p:sp>
        <p:nvSpPr>
          <p:cNvPr id="18" name="Text 16"/>
          <p:cNvSpPr txBox="1"/>
          <p:nvPr/>
        </p:nvSpPr>
        <p:spPr>
          <a:xfrm>
            <a:off x="9349511" y="3063240"/>
            <a:ext cx="2019224" cy="64008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로컬 4B 모델 2종, 반복 실행 범위. 변종 값 혼입이 남은 과제</a:t>
            </a:r>
            <a:endParaRPr lang="en-US" sz="1200" dirty="0"/>
          </a:p>
        </p:txBody>
      </p:sp>
      <p:sp>
        <p:nvSpPr>
          <p:cNvPr id="19" name="Text 17"/>
          <p:cNvSpPr txBox="1"/>
          <p:nvPr/>
        </p:nvSpPr>
        <p:spPr>
          <a:xfrm>
            <a:off x="548640" y="4206240"/>
            <a:ext cx="11094415" cy="731520"/>
          </a:xfrm>
          <a:prstGeom prst="rect">
            <a:avLst/>
          </a:prstGeom>
          <a:noFill/>
          <a:ln/>
        </p:spPr>
        <p:txBody>
          <a:bodyPr wrap="square" lIns="0" tIns="0" rIns="0" bIns="0" rtlCol="0" anchor="t"/>
          <a:lstStyle/>
          <a:p>
            <a:pPr indent="0" marL="0">
              <a:buNone/>
            </a:pPr>
            <a:r>
              <a:rPr lang="en-US" sz="1500" b="1" dirty="0">
                <a:solidFill>
                  <a:srgbClr val="5B6168"/>
                </a:solidFill>
                <a:latin typeface="Malgun Gothic" pitchFamily="34" charset="0"/>
                <a:ea typeface="Malgun Gothic" pitchFamily="34" charset="-122"/>
                <a:cs typeface="Malgun Gothic" pitchFamily="34" charset="-120"/>
              </a:rPr>
              <a:t>평가셋 </a:t>
            </a:r>
            <a:pPr indent="0" marL="0">
              <a:buNone/>
            </a:pPr>
            <a:r>
              <a:rPr lang="en-US" sz="1500" dirty="0">
                <a:solidFill>
                  <a:srgbClr val="5B6168"/>
                </a:solidFill>
                <a:latin typeface="Malgun Gothic" pitchFamily="34" charset="0"/>
                <a:ea typeface="Malgun Gothic" pitchFamily="34" charset="-122"/>
                <a:cs typeface="Malgun Gothic" pitchFamily="34" charset="-120"/>
              </a:rPr>
              <a:t>38문항 (정답형 20, 변종 구분 8, 문서에 없음 10). 정답과 출처 페이지는 PDF 원문에서 확인해 tests/evaluation_questions.json 에 함께 적었다.</a:t>
            </a:r>
            <a:endParaRPr lang="en-US" sz="1500" dirty="0"/>
          </a:p>
        </p:txBody>
      </p:sp>
      <p:sp>
        <p:nvSpPr>
          <p:cNvPr id="20" name="Text 18"/>
          <p:cNvSpPr txBox="1"/>
          <p:nvPr/>
        </p:nvSpPr>
        <p:spPr>
          <a:xfrm>
            <a:off x="548640" y="4937760"/>
            <a:ext cx="11094415" cy="731520"/>
          </a:xfrm>
          <a:prstGeom prst="rect">
            <a:avLst/>
          </a:prstGeom>
          <a:noFill/>
          <a:ln/>
        </p:spPr>
        <p:txBody>
          <a:bodyPr wrap="square" lIns="0" tIns="0" rIns="0" bIns="0" rtlCol="0" anchor="t"/>
          <a:lstStyle/>
          <a:p>
            <a:pPr indent="0" marL="0">
              <a:buNone/>
            </a:pPr>
            <a:r>
              <a:rPr lang="en-US" sz="1500" b="1" dirty="0">
                <a:solidFill>
                  <a:srgbClr val="5B6168"/>
                </a:solidFill>
                <a:latin typeface="Malgun Gothic" pitchFamily="34" charset="0"/>
                <a:ea typeface="Malgun Gothic" pitchFamily="34" charset="-122"/>
                <a:cs typeface="Malgun Gothic" pitchFamily="34" charset="-120"/>
              </a:rPr>
              <a:t>재현 </a:t>
            </a:r>
            <a:pPr indent="0" marL="0">
              <a:buNone/>
            </a:pPr>
            <a:r>
              <a:rPr lang="en-US" sz="1500" dirty="0">
                <a:solidFill>
                  <a:srgbClr val="5B6168"/>
                </a:solidFill>
                <a:latin typeface="Malgun Gothic" pitchFamily="34" charset="0"/>
                <a:ea typeface="Malgun Gothic" pitchFamily="34" charset="-122"/>
                <a:cs typeface="Malgun Gothic" pitchFamily="34" charset="-120"/>
              </a:rPr>
              <a:t>python evaluate.py (전수 검사), python calibrate.py (기준값), python evaluate_answers.py (모델 비교). 앞의 둘은 API 키 없이 돈다.</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한 글자 차이가 다른 부품이다</a:t>
            </a:r>
            <a:endParaRPr lang="en-US" sz="3000" dirty="0"/>
          </a:p>
        </p:txBody>
      </p:sp>
      <p:sp>
        <p:nvSpPr>
          <p:cNvPr id="3" name="Text 1"/>
          <p:cNvSpPr txBox="1"/>
          <p:nvPr/>
        </p:nvSpPr>
        <p:spPr>
          <a:xfrm>
            <a:off x="548640" y="1463040"/>
            <a:ext cx="5120640" cy="347472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F2328"/>
                </a:solidFill>
                <a:latin typeface="Malgun Gothic" pitchFamily="34" charset="0"/>
                <a:ea typeface="Malgun Gothic" pitchFamily="34" charset="-122"/>
                <a:cs typeface="Malgun Gothic" pitchFamily="34" charset="-120"/>
              </a:rPr>
              <a:t>학부연구인턴 중 USB 허브 보드를 설계하며 컨트롤러 CH334U 의 사양을 확인해야 했다</a:t>
            </a:r>
            <a:endParaRPr lang="en-US" sz="1700" dirty="0"/>
          </a:p>
          <a:p>
            <a:pPr marL="342900" indent="-342900">
              <a:spcAft>
                <a:spcPts val="1200"/>
              </a:spcAft>
              <a:buSzPct val="100000"/>
              <a:buChar char="•"/>
            </a:pPr>
            <a:r>
              <a:rPr lang="en-US" sz="1700" dirty="0">
                <a:solidFill>
                  <a:srgbClr val="1F2328"/>
                </a:solidFill>
                <a:latin typeface="Malgun Gothic" pitchFamily="34" charset="0"/>
                <a:ea typeface="Malgun Gothic" pitchFamily="34" charset="-122"/>
                <a:cs typeface="Malgun Gothic" pitchFamily="34" charset="-120"/>
              </a:rPr>
              <a:t>데이터시트 한 권(32쪽)에 CH334/CH335 변종 10종이 함께 실려 있고, 비교표에는 한 페이지에 모두 나온다</a:t>
            </a:r>
            <a:endParaRPr lang="en-US" sz="1700" dirty="0"/>
          </a:p>
          <a:p>
            <a:pPr marL="342900" indent="-342900">
              <a:spcAft>
                <a:spcPts val="1200"/>
              </a:spcAft>
              <a:buSzPct val="100000"/>
              <a:buChar char="•"/>
            </a:pPr>
            <a:r>
              <a:rPr lang="en-US" sz="1700" dirty="0">
                <a:solidFill>
                  <a:srgbClr val="1F2328"/>
                </a:solidFill>
                <a:latin typeface="Malgun Gothic" pitchFamily="34" charset="0"/>
                <a:ea typeface="Malgun Gothic" pitchFamily="34" charset="-122"/>
                <a:cs typeface="Malgun Gothic" pitchFamily="34" charset="-120"/>
              </a:rPr>
              <a:t>접미사 한 글자에 패키지와 핀 배치, 과전류 검출 지원 여부가 바뀐다</a:t>
            </a:r>
            <a:endParaRPr lang="en-US" sz="1700" dirty="0"/>
          </a:p>
          <a:p>
            <a:pPr marL="342900" indent="-342900">
              <a:spcAft>
                <a:spcPts val="1200"/>
              </a:spcAft>
              <a:buSzPct val="100000"/>
              <a:buChar char="•"/>
            </a:pPr>
            <a:r>
              <a:rPr lang="en-US" sz="1700" dirty="0">
                <a:solidFill>
                  <a:srgbClr val="1F2328"/>
                </a:solidFill>
                <a:latin typeface="Malgun Gothic" pitchFamily="34" charset="0"/>
                <a:ea typeface="Malgun Gothic" pitchFamily="34" charset="-122"/>
                <a:cs typeface="Malgun Gothic" pitchFamily="34" charset="-120"/>
              </a:rPr>
              <a:t>찾은 내용이 질문한 품번에 적용되는지 가리는 것이 검색보다 먼저였다</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0" y="1554480"/>
          <a:ext cx="5394960" cy="914400"/>
        </p:xfrm>
        <a:graphic>
          <a:graphicData uri="http://schemas.openxmlformats.org/drawingml/2006/table">
            <a:tbl>
              <a:tblPr/>
              <a:tblGrid>
                <a:gridCol w="1828800"/>
                <a:gridCol w="1554480"/>
                <a:gridCol w="2011680"/>
              </a:tblGrid>
              <a:tr h="438912">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패키지</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품번</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과전류 검출</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438912">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QSOP16</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CH334R</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지원 안 함</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r>
              <a:tr h="438912">
                <a:tc>
                  <a:txBody>
                    <a:bodyP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QSOP28</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E8F1FC"/>
                    </a:solidFill>
                  </a:tcPr>
                </a:tc>
                <a:tc>
                  <a:txBody>
                    <a:bodyP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CH334U</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E8F1FC"/>
                    </a:solidFill>
                  </a:tcPr>
                </a:tc>
                <a:tc>
                  <a:txBody>
                    <a:bodyP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GANG 모드만</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E8F1FC"/>
                    </a:solidFill>
                  </a:tcPr>
                </a:tc>
              </a:tr>
              <a:tr h="438912">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QFN16_3×3</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CH334P</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지원 안 함</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QFN28_5×5</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CH334H</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개별 검출 / GANG</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QFN28_4×4</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CH335F</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Malgun Gothic" pitchFamily="34" charset="0"/>
                          <a:ea typeface="Malgun Gothic" pitchFamily="34" charset="-122"/>
                          <a:cs typeface="Malgun Gothic" pitchFamily="34" charset="-120"/>
                        </a:rPr>
                        <a:t>독립 / GANG</a:t>
                      </a:r>
                      <a:endParaRPr lang="en-US" sz="15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17920" y="4343400"/>
            <a:ext cx="5394960" cy="32004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표 1-2 (p.4), 3.1 과전류 검출 (p.9)에서 발췌. 페이지는 PDF 쪽 번호</a:t>
            </a:r>
            <a:endParaRPr lang="en-US" sz="1100" dirty="0"/>
          </a:p>
        </p:txBody>
      </p:sp>
      <p:sp>
        <p:nvSpPr>
          <p:cNvPr id="6" name="Text 3"/>
          <p:cNvSpPr txBox="1"/>
          <p:nvPr/>
        </p:nvSpPr>
        <p:spPr>
          <a:xfrm>
            <a:off x="548640" y="5212080"/>
            <a:ext cx="11094415" cy="64008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품번 패턴으로 잡힌 문자열은 13종이다. CH334/CH335 변종 10종에 주변 부품 2종(CH213K, CH412K)과 패키지 코드 1종(QFN16C)이 함께 잡힌다. 전수 검사는 13종 모두를 대상으로 했다.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검색은 항상 무언가를 돌려준다</a:t>
            </a:r>
            <a:endParaRPr lang="en-US" sz="30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700" b="1" dirty="0">
                <a:solidFill>
                  <a:srgbClr val="1F2328"/>
                </a:solidFill>
                <a:latin typeface="Malgun Gothic" pitchFamily="34" charset="0"/>
                <a:ea typeface="Malgun Gothic" pitchFamily="34" charset="-122"/>
                <a:cs typeface="Malgun Gothic" pitchFamily="34" charset="-120"/>
              </a:rPr>
              <a:t>질문  “CH334U 는 HDMI 2.1 을 지원하는가?”  문서에 HDMI 는 한 번도 나오지 않는다</a:t>
            </a:r>
            <a:endParaRPr lang="en-US" sz="1700" dirty="0"/>
          </a:p>
        </p:txBody>
      </p:sp>
      <p:sp>
        <p:nvSpPr>
          <p:cNvPr id="4" name="before"/>
          <p:cNvSpPr/>
          <p:nvPr/>
        </p:nvSpPr>
        <p:spPr>
          <a:xfrm>
            <a:off x="548640" y="2011680"/>
            <a:ext cx="5364328" cy="3017520"/>
          </a:xfrm>
          <a:prstGeom prst="roundRect">
            <a:avLst>
              <a:gd name="adj" fmla="val 2424"/>
            </a:avLst>
          </a:prstGeom>
          <a:solidFill>
            <a:srgbClr val="FBEDE7"/>
          </a:solidFill>
          <a:ln/>
        </p:spPr>
      </p:sp>
      <p:sp>
        <p:nvSpPr>
          <p:cNvPr id="5" name="Text 3"/>
          <p:cNvSpPr txBox="1"/>
          <p:nvPr/>
        </p:nvSpPr>
        <p:spPr>
          <a:xfrm>
            <a:off x="868680" y="2240280"/>
            <a:ext cx="4724248" cy="411480"/>
          </a:xfrm>
          <a:prstGeom prst="rect">
            <a:avLst/>
          </a:prstGeom>
          <a:noFill/>
          <a:ln/>
        </p:spPr>
        <p:txBody>
          <a:bodyPr wrap="square" lIns="0" tIns="0" rIns="0" bIns="0" rtlCol="0" anchor="t"/>
          <a:lstStyle/>
          <a:p>
            <a:pPr indent="0" marL="0">
              <a:buNone/>
            </a:pPr>
            <a:r>
              <a:rPr lang="en-US" sz="1800" b="1" dirty="0">
                <a:solidFill>
                  <a:srgbClr val="D2551F"/>
                </a:solidFill>
                <a:latin typeface="Malgun Gothic" pitchFamily="34" charset="0"/>
                <a:ea typeface="Malgun Gothic" pitchFamily="34" charset="-122"/>
                <a:cs typeface="Malgun Gothic" pitchFamily="34" charset="-120"/>
              </a:rPr>
              <a:t>처음 만든 것</a:t>
            </a:r>
            <a:endParaRPr lang="en-US" sz="1800" dirty="0"/>
          </a:p>
        </p:txBody>
      </p:sp>
      <p:sp>
        <p:nvSpPr>
          <p:cNvPr id="6" name="Text 4"/>
          <p:cNvSpPr txBox="1"/>
          <p:nvPr/>
        </p:nvSpPr>
        <p:spPr>
          <a:xfrm>
            <a:off x="868680" y="2743200"/>
            <a:ext cx="4724248" cy="25603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관련이 낮은 구간도 상위 5개로 그대로 모델에 넘겼다</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모델은 인접 구간을 근거처럼 엮어 그럴듯한 답을 만들었다</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답이 틀렸는지는 원문을 다시 찾아봐야 알 수 있었다</a:t>
            </a:r>
            <a:endParaRPr lang="en-US" sz="1600" dirty="0"/>
          </a:p>
        </p:txBody>
      </p:sp>
      <p:sp>
        <p:nvSpPr>
          <p:cNvPr id="7" name="after"/>
          <p:cNvSpPr/>
          <p:nvPr/>
        </p:nvSpPr>
        <p:spPr>
          <a:xfrm>
            <a:off x="6278728" y="2011680"/>
            <a:ext cx="5364328" cy="3017520"/>
          </a:xfrm>
          <a:prstGeom prst="roundRect">
            <a:avLst>
              <a:gd name="adj" fmla="val 2424"/>
            </a:avLst>
          </a:prstGeom>
          <a:solidFill>
            <a:srgbClr val="E8F1FC"/>
          </a:solidFill>
          <a:ln/>
        </p:spPr>
      </p:sp>
      <p:sp>
        <p:nvSpPr>
          <p:cNvPr id="8" name="Text 6"/>
          <p:cNvSpPr txBox="1"/>
          <p:nvPr/>
        </p:nvSpPr>
        <p:spPr>
          <a:xfrm>
            <a:off x="6598768" y="2240280"/>
            <a:ext cx="4724248" cy="411480"/>
          </a:xfrm>
          <a:prstGeom prst="rect">
            <a:avLst/>
          </a:prstGeom>
          <a:noFill/>
          <a:ln/>
        </p:spPr>
        <p:txBody>
          <a:bodyPr wrap="square" lIns="0" tIns="0" rIns="0" bIns="0" rtlCol="0" anchor="t"/>
          <a:lstStyle/>
          <a:p>
            <a:pPr indent="0" marL="0">
              <a:buNone/>
            </a:pPr>
            <a:r>
              <a:rPr lang="en-US" sz="1800" b="1" dirty="0">
                <a:solidFill>
                  <a:srgbClr val="2A78D6"/>
                </a:solidFill>
                <a:latin typeface="Malgun Gothic" pitchFamily="34" charset="0"/>
                <a:ea typeface="Malgun Gothic" pitchFamily="34" charset="-122"/>
                <a:cs typeface="Malgun Gothic" pitchFamily="34" charset="-120"/>
              </a:rPr>
              <a:t>지금</a:t>
            </a:r>
            <a:endParaRPr lang="en-US" sz="1800" dirty="0"/>
          </a:p>
        </p:txBody>
      </p:sp>
      <p:sp>
        <p:nvSpPr>
          <p:cNvPr id="9" name="Text 7"/>
          <p:cNvSpPr txBox="1"/>
          <p:nvPr/>
        </p:nvSpPr>
        <p:spPr>
          <a:xfrm>
            <a:off x="6598768" y="2743200"/>
            <a:ext cx="4724248" cy="25603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답해도 되는 조건을 먼저 정하고, 못 미치면 모델을 부르지 않는다</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이 질문은 근거에 HDMI 가 없어(용어 비율 0%) 모델을 부르지 않는다</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모든 답에 페이지를 붙이고 원문과 다시 대조한다</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기준은 직접 정하고 구현은 맡겼다</a:t>
            </a:r>
            <a:endParaRPr lang="en-US" sz="3000" dirty="0"/>
          </a:p>
        </p:txBody>
      </p:sp>
      <p:sp>
        <p:nvSpPr>
          <p:cNvPr id="3" name="mine"/>
          <p:cNvSpPr/>
          <p:nvPr/>
        </p:nvSpPr>
        <p:spPr>
          <a:xfrm>
            <a:off x="548640" y="1417320"/>
            <a:ext cx="5364328" cy="3657600"/>
          </a:xfrm>
          <a:prstGeom prst="roundRect">
            <a:avLst>
              <a:gd name="adj" fmla="val 2000"/>
            </a:avLst>
          </a:prstGeom>
          <a:solidFill>
            <a:srgbClr val="F3F5F7"/>
          </a:solidFill>
          <a:ln/>
        </p:spPr>
      </p:sp>
      <p:sp>
        <p:nvSpPr>
          <p:cNvPr id="4" name="Text 2"/>
          <p:cNvSpPr txBox="1"/>
          <p:nvPr/>
        </p:nvSpPr>
        <p:spPr>
          <a:xfrm>
            <a:off x="868680" y="1645920"/>
            <a:ext cx="4724248" cy="411480"/>
          </a:xfrm>
          <a:prstGeom prst="rect">
            <a:avLst/>
          </a:prstGeom>
          <a:noFill/>
          <a:ln/>
        </p:spPr>
        <p:txBody>
          <a:bodyPr wrap="square" lIns="0" tIns="0" rIns="0" bIns="0" rtlCol="0" anchor="t"/>
          <a:lstStyle/>
          <a:p>
            <a:pPr indent="0" marL="0">
              <a:buNone/>
            </a:pPr>
            <a:r>
              <a:rPr lang="en-US" sz="1800" b="1" dirty="0">
                <a:solidFill>
                  <a:srgbClr val="2A78D6"/>
                </a:solidFill>
                <a:latin typeface="Malgun Gothic" pitchFamily="34" charset="0"/>
                <a:ea typeface="Malgun Gothic" pitchFamily="34" charset="-122"/>
                <a:cs typeface="Malgun Gothic" pitchFamily="34" charset="-120"/>
              </a:rPr>
              <a:t>직접 정한 것</a:t>
            </a:r>
            <a:endParaRPr lang="en-US" sz="1800" dirty="0"/>
          </a:p>
        </p:txBody>
      </p:sp>
      <p:sp>
        <p:nvSpPr>
          <p:cNvPr id="5" name="Text 3"/>
          <p:cNvSpPr txBox="1"/>
          <p:nvPr/>
        </p:nvSpPr>
        <p:spPr>
          <a:xfrm>
            <a:off x="868680" y="2148840"/>
            <a:ext cx="4724248"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무엇을 근거로 인정할지 (변종 게이트 규칙 4가지)</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언제 답하지 않을지 (검증 게이트, 근거 충분성 두 기준)</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평가 방법: 없는 것을 없다고 하는지 같이 보도록 평가셋을 구성</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기준값을 고르는 규칙: 두 집단 값의 가운데</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결과를 받아들일지: 전수 검사와 평가셋으로 확인</a:t>
            </a:r>
            <a:endParaRPr lang="en-US" sz="1600" dirty="0"/>
          </a:p>
        </p:txBody>
      </p:sp>
      <p:sp>
        <p:nvSpPr>
          <p:cNvPr id="6" name="ai"/>
          <p:cNvSpPr/>
          <p:nvPr/>
        </p:nvSpPr>
        <p:spPr>
          <a:xfrm>
            <a:off x="6278728" y="1417320"/>
            <a:ext cx="5364328" cy="3657600"/>
          </a:xfrm>
          <a:prstGeom prst="roundRect">
            <a:avLst>
              <a:gd name="adj" fmla="val 2000"/>
            </a:avLst>
          </a:prstGeom>
          <a:solidFill>
            <a:srgbClr val="F3F5F7"/>
          </a:solidFill>
          <a:ln/>
        </p:spPr>
      </p:sp>
      <p:sp>
        <p:nvSpPr>
          <p:cNvPr id="7" name="Text 5"/>
          <p:cNvSpPr txBox="1"/>
          <p:nvPr/>
        </p:nvSpPr>
        <p:spPr>
          <a:xfrm>
            <a:off x="6598768" y="1645920"/>
            <a:ext cx="4724248" cy="411480"/>
          </a:xfrm>
          <a:prstGeom prst="rect">
            <a:avLst/>
          </a:prstGeom>
          <a:noFill/>
          <a:ln/>
        </p:spPr>
        <p:txBody>
          <a:bodyPr wrap="square" lIns="0" tIns="0" rIns="0" bIns="0" rtlCol="0" anchor="t"/>
          <a:lstStyle/>
          <a:p>
            <a:pPr indent="0" marL="0">
              <a:buNone/>
            </a:pPr>
            <a:r>
              <a:rPr lang="en-US" sz="1800" b="1" dirty="0">
                <a:solidFill>
                  <a:srgbClr val="5B6168"/>
                </a:solidFill>
                <a:latin typeface="Malgun Gothic" pitchFamily="34" charset="0"/>
                <a:ea typeface="Malgun Gothic" pitchFamily="34" charset="-122"/>
                <a:cs typeface="Malgun Gothic" pitchFamily="34" charset="-120"/>
              </a:rPr>
              <a:t>Claude Code 에 맡긴 것</a:t>
            </a:r>
            <a:endParaRPr lang="en-US" sz="1800" dirty="0"/>
          </a:p>
        </p:txBody>
      </p:sp>
      <p:sp>
        <p:nvSpPr>
          <p:cNvPr id="8" name="Text 6"/>
          <p:cNvSpPr txBox="1"/>
          <p:nvPr/>
        </p:nvSpPr>
        <p:spPr>
          <a:xfrm>
            <a:off x="6598768" y="2148840"/>
            <a:ext cx="4724248"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PDF 추출, 페이지와 섹션을 유지한 청킹</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BM25 와 품번 n-gram 색인 구현</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모델 호출 코드(로컬, OpenAI, Anthropic)와 시연 화면</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단위 테스트 작성</a:t>
            </a:r>
            <a:endParaRPr lang="en-US" sz="1600" dirty="0"/>
          </a:p>
          <a:p>
            <a:pPr marL="342900" indent="-342900">
              <a:spcAft>
                <a:spcPts val="1000"/>
              </a:spcAft>
              <a:buSzPct val="100000"/>
              <a:buChar char="•"/>
            </a:pPr>
            <a:r>
              <a:rPr lang="en-US" sz="1600" dirty="0">
                <a:solidFill>
                  <a:srgbClr val="1F2328"/>
                </a:solidFill>
                <a:latin typeface="Malgun Gothic" pitchFamily="34" charset="0"/>
                <a:ea typeface="Malgun Gothic" pitchFamily="34" charset="-122"/>
                <a:cs typeface="Malgun Gothic" pitchFamily="34" charset="-120"/>
              </a:rPr>
              <a:t>맡긴 코드는 테스트와 평가셋 결과로만 받아들였다</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모델을 부르기 전에 세 번 거른다</a:t>
            </a:r>
            <a:endParaRPr lang="en-US" sz="3000" dirty="0"/>
          </a:p>
        </p:txBody>
      </p:sp>
      <p:sp>
        <p:nvSpPr>
          <p:cNvPr id="3" name="step-1"/>
          <p:cNvSpPr/>
          <p:nvPr/>
        </p:nvSpPr>
        <p:spPr>
          <a:xfrm>
            <a:off x="548640" y="1554480"/>
            <a:ext cx="1459513" cy="2743200"/>
          </a:xfrm>
          <a:prstGeom prst="roundRect">
            <a:avLst>
              <a:gd name="adj" fmla="val 5012"/>
            </a:avLst>
          </a:prstGeom>
          <a:solidFill>
            <a:srgbClr val="F3F5F7"/>
          </a:solidFill>
          <a:ln/>
        </p:spPr>
      </p:sp>
      <p:sp>
        <p:nvSpPr>
          <p:cNvPr id="4" name="badge-1"/>
          <p:cNvSpPr/>
          <p:nvPr/>
        </p:nvSpPr>
        <p:spPr>
          <a:xfrm>
            <a:off x="731520" y="1737360"/>
            <a:ext cx="502920" cy="502920"/>
          </a:xfrm>
          <a:prstGeom prst="ellipse">
            <a:avLst/>
          </a:prstGeom>
          <a:solidFill>
            <a:srgbClr val="5B6168"/>
          </a:solidFill>
          <a:ln/>
        </p:spPr>
      </p:sp>
      <p:sp>
        <p:nvSpPr>
          <p:cNvPr id="5" name="Text 3"/>
          <p:cNvSpPr txBox="1"/>
          <p:nvPr/>
        </p:nvSpPr>
        <p:spPr>
          <a:xfrm>
            <a:off x="731520"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6" name="Text 4"/>
          <p:cNvSpPr txBox="1"/>
          <p:nvPr/>
        </p:nvSpPr>
        <p:spPr>
          <a:xfrm>
            <a:off x="731520"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품번 추출</a:t>
            </a:r>
            <a:endParaRPr lang="en-US" sz="1600" dirty="0"/>
          </a:p>
        </p:txBody>
      </p:sp>
      <p:sp>
        <p:nvSpPr>
          <p:cNvPr id="7" name="Text 5"/>
          <p:cNvSpPr txBox="1"/>
          <p:nvPr/>
        </p:nvSpPr>
        <p:spPr>
          <a:xfrm>
            <a:off x="731520"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질문에서 CH334U 같은 품번을 뽑는다</a:t>
            </a:r>
            <a:endParaRPr lang="en-US" sz="1300" dirty="0"/>
          </a:p>
        </p:txBody>
      </p:sp>
      <p:sp>
        <p:nvSpPr>
          <p:cNvPr id="8" name="step-2"/>
          <p:cNvSpPr/>
          <p:nvPr/>
        </p:nvSpPr>
        <p:spPr>
          <a:xfrm>
            <a:off x="2154457" y="1554480"/>
            <a:ext cx="1459513" cy="2743200"/>
          </a:xfrm>
          <a:prstGeom prst="roundRect">
            <a:avLst>
              <a:gd name="adj" fmla="val 5012"/>
            </a:avLst>
          </a:prstGeom>
          <a:solidFill>
            <a:srgbClr val="FBEDE7"/>
          </a:solidFill>
          <a:ln/>
        </p:spPr>
      </p:sp>
      <p:sp>
        <p:nvSpPr>
          <p:cNvPr id="9" name="badge-2"/>
          <p:cNvSpPr/>
          <p:nvPr/>
        </p:nvSpPr>
        <p:spPr>
          <a:xfrm>
            <a:off x="2337337" y="1737360"/>
            <a:ext cx="502920" cy="502920"/>
          </a:xfrm>
          <a:prstGeom prst="ellipse">
            <a:avLst/>
          </a:prstGeom>
          <a:solidFill>
            <a:srgbClr val="D2551F"/>
          </a:solidFill>
          <a:ln/>
        </p:spPr>
      </p:sp>
      <p:sp>
        <p:nvSpPr>
          <p:cNvPr id="10" name="Text 8"/>
          <p:cNvSpPr txBox="1"/>
          <p:nvPr/>
        </p:nvSpPr>
        <p:spPr>
          <a:xfrm>
            <a:off x="2337337"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1" name="Text 9"/>
          <p:cNvSpPr txBox="1"/>
          <p:nvPr/>
        </p:nvSpPr>
        <p:spPr>
          <a:xfrm>
            <a:off x="2337337"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변종 게이트</a:t>
            </a:r>
            <a:endParaRPr lang="en-US" sz="1600" dirty="0"/>
          </a:p>
        </p:txBody>
      </p:sp>
      <p:sp>
        <p:nvSpPr>
          <p:cNvPr id="12" name="Text 10"/>
          <p:cNvSpPr txBox="1"/>
          <p:nvPr/>
        </p:nvSpPr>
        <p:spPr>
          <a:xfrm>
            <a:off x="2337337"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다른 변종만 적힌 청크를 뺀다</a:t>
            </a:r>
            <a:endParaRPr lang="en-US" sz="1300" dirty="0"/>
          </a:p>
        </p:txBody>
      </p:sp>
      <p:sp>
        <p:nvSpPr>
          <p:cNvPr id="13" name="step-3"/>
          <p:cNvSpPr/>
          <p:nvPr/>
        </p:nvSpPr>
        <p:spPr>
          <a:xfrm>
            <a:off x="3760274" y="1554480"/>
            <a:ext cx="1459513" cy="2743200"/>
          </a:xfrm>
          <a:prstGeom prst="roundRect">
            <a:avLst>
              <a:gd name="adj" fmla="val 5012"/>
            </a:avLst>
          </a:prstGeom>
          <a:solidFill>
            <a:srgbClr val="F3F5F7"/>
          </a:solidFill>
          <a:ln/>
        </p:spPr>
      </p:sp>
      <p:sp>
        <p:nvSpPr>
          <p:cNvPr id="14" name="badge-3"/>
          <p:cNvSpPr/>
          <p:nvPr/>
        </p:nvSpPr>
        <p:spPr>
          <a:xfrm>
            <a:off x="3943154" y="1737360"/>
            <a:ext cx="502920" cy="502920"/>
          </a:xfrm>
          <a:prstGeom prst="ellipse">
            <a:avLst/>
          </a:prstGeom>
          <a:solidFill>
            <a:srgbClr val="5B6168"/>
          </a:solidFill>
          <a:ln/>
        </p:spPr>
      </p:sp>
      <p:sp>
        <p:nvSpPr>
          <p:cNvPr id="15" name="Text 13"/>
          <p:cNvSpPr txBox="1"/>
          <p:nvPr/>
        </p:nvSpPr>
        <p:spPr>
          <a:xfrm>
            <a:off x="3943154"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6" name="Text 14"/>
          <p:cNvSpPr txBox="1"/>
          <p:nvPr/>
        </p:nvSpPr>
        <p:spPr>
          <a:xfrm>
            <a:off x="3943154"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BM25 검색</a:t>
            </a:r>
            <a:endParaRPr lang="en-US" sz="1600" dirty="0"/>
          </a:p>
        </p:txBody>
      </p:sp>
      <p:sp>
        <p:nvSpPr>
          <p:cNvPr id="17" name="Text 15"/>
          <p:cNvSpPr txBox="1"/>
          <p:nvPr/>
        </p:nvSpPr>
        <p:spPr>
          <a:xfrm>
            <a:off x="3943154"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품번은 빼고 내용으로 순위를 매긴다</a:t>
            </a:r>
            <a:endParaRPr lang="en-US" sz="1300" dirty="0"/>
          </a:p>
        </p:txBody>
      </p:sp>
      <p:sp>
        <p:nvSpPr>
          <p:cNvPr id="18" name="step-4"/>
          <p:cNvSpPr/>
          <p:nvPr/>
        </p:nvSpPr>
        <p:spPr>
          <a:xfrm>
            <a:off x="5366091" y="1554480"/>
            <a:ext cx="1459513" cy="2743200"/>
          </a:xfrm>
          <a:prstGeom prst="roundRect">
            <a:avLst>
              <a:gd name="adj" fmla="val 5012"/>
            </a:avLst>
          </a:prstGeom>
          <a:solidFill>
            <a:srgbClr val="FBEDE7"/>
          </a:solidFill>
          <a:ln/>
        </p:spPr>
      </p:sp>
      <p:sp>
        <p:nvSpPr>
          <p:cNvPr id="19" name="badge-4"/>
          <p:cNvSpPr/>
          <p:nvPr/>
        </p:nvSpPr>
        <p:spPr>
          <a:xfrm>
            <a:off x="5548971" y="1737360"/>
            <a:ext cx="502920" cy="502920"/>
          </a:xfrm>
          <a:prstGeom prst="ellipse">
            <a:avLst/>
          </a:prstGeom>
          <a:solidFill>
            <a:srgbClr val="D2551F"/>
          </a:solidFill>
          <a:ln/>
        </p:spPr>
      </p:sp>
      <p:sp>
        <p:nvSpPr>
          <p:cNvPr id="20" name="Text 18"/>
          <p:cNvSpPr txBox="1"/>
          <p:nvPr/>
        </p:nvSpPr>
        <p:spPr>
          <a:xfrm>
            <a:off x="5548971"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4</a:t>
            </a:r>
            <a:endParaRPr lang="en-US" sz="1800" dirty="0"/>
          </a:p>
        </p:txBody>
      </p:sp>
      <p:sp>
        <p:nvSpPr>
          <p:cNvPr id="21" name="Text 19"/>
          <p:cNvSpPr txBox="1"/>
          <p:nvPr/>
        </p:nvSpPr>
        <p:spPr>
          <a:xfrm>
            <a:off x="5548971"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검증 게이트</a:t>
            </a:r>
            <a:endParaRPr lang="en-US" sz="1600" dirty="0"/>
          </a:p>
        </p:txBody>
      </p:sp>
      <p:sp>
        <p:nvSpPr>
          <p:cNvPr id="22" name="Text 20"/>
          <p:cNvSpPr txBox="1"/>
          <p:nvPr/>
        </p:nvSpPr>
        <p:spPr>
          <a:xfrm>
            <a:off x="5548971"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질문한 품번이 문서에 있는지 본다</a:t>
            </a:r>
            <a:endParaRPr lang="en-US" sz="1300" dirty="0"/>
          </a:p>
        </p:txBody>
      </p:sp>
      <p:sp>
        <p:nvSpPr>
          <p:cNvPr id="23" name="step-5"/>
          <p:cNvSpPr/>
          <p:nvPr/>
        </p:nvSpPr>
        <p:spPr>
          <a:xfrm>
            <a:off x="6971908" y="1554480"/>
            <a:ext cx="1459513" cy="2743200"/>
          </a:xfrm>
          <a:prstGeom prst="roundRect">
            <a:avLst>
              <a:gd name="adj" fmla="val 5012"/>
            </a:avLst>
          </a:prstGeom>
          <a:solidFill>
            <a:srgbClr val="FBEDE7"/>
          </a:solidFill>
          <a:ln/>
        </p:spPr>
      </p:sp>
      <p:sp>
        <p:nvSpPr>
          <p:cNvPr id="24" name="badge-5"/>
          <p:cNvSpPr/>
          <p:nvPr/>
        </p:nvSpPr>
        <p:spPr>
          <a:xfrm>
            <a:off x="7154788" y="1737360"/>
            <a:ext cx="502920" cy="502920"/>
          </a:xfrm>
          <a:prstGeom prst="ellipse">
            <a:avLst/>
          </a:prstGeom>
          <a:solidFill>
            <a:srgbClr val="D2551F"/>
          </a:solidFill>
          <a:ln/>
        </p:spPr>
      </p:sp>
      <p:sp>
        <p:nvSpPr>
          <p:cNvPr id="25" name="Text 23"/>
          <p:cNvSpPr txBox="1"/>
          <p:nvPr/>
        </p:nvSpPr>
        <p:spPr>
          <a:xfrm>
            <a:off x="7154788"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5</a:t>
            </a:r>
            <a:endParaRPr lang="en-US" sz="1800" dirty="0"/>
          </a:p>
        </p:txBody>
      </p:sp>
      <p:sp>
        <p:nvSpPr>
          <p:cNvPr id="26" name="Text 24"/>
          <p:cNvSpPr txBox="1"/>
          <p:nvPr/>
        </p:nvSpPr>
        <p:spPr>
          <a:xfrm>
            <a:off x="7154788"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근거 충분성</a:t>
            </a:r>
            <a:endParaRPr lang="en-US" sz="1600" dirty="0"/>
          </a:p>
        </p:txBody>
      </p:sp>
      <p:sp>
        <p:nvSpPr>
          <p:cNvPr id="27" name="Text 25"/>
          <p:cNvSpPr txBox="1"/>
          <p:nvPr/>
        </p:nvSpPr>
        <p:spPr>
          <a:xfrm>
            <a:off x="7154788"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1위 점수와 용어 등장 비율을 본다</a:t>
            </a:r>
            <a:endParaRPr lang="en-US" sz="1300" dirty="0"/>
          </a:p>
        </p:txBody>
      </p:sp>
      <p:sp>
        <p:nvSpPr>
          <p:cNvPr id="28" name="step-6"/>
          <p:cNvSpPr/>
          <p:nvPr/>
        </p:nvSpPr>
        <p:spPr>
          <a:xfrm>
            <a:off x="8577725" y="1554480"/>
            <a:ext cx="1459513" cy="2743200"/>
          </a:xfrm>
          <a:prstGeom prst="roundRect">
            <a:avLst>
              <a:gd name="adj" fmla="val 5012"/>
            </a:avLst>
          </a:prstGeom>
          <a:solidFill>
            <a:srgbClr val="F3F5F7"/>
          </a:solidFill>
          <a:ln/>
        </p:spPr>
      </p:sp>
      <p:sp>
        <p:nvSpPr>
          <p:cNvPr id="29" name="badge-6"/>
          <p:cNvSpPr/>
          <p:nvPr/>
        </p:nvSpPr>
        <p:spPr>
          <a:xfrm>
            <a:off x="8760605" y="1737360"/>
            <a:ext cx="502920" cy="502920"/>
          </a:xfrm>
          <a:prstGeom prst="ellipse">
            <a:avLst/>
          </a:prstGeom>
          <a:solidFill>
            <a:srgbClr val="2A78D6"/>
          </a:solidFill>
          <a:ln/>
        </p:spPr>
      </p:sp>
      <p:sp>
        <p:nvSpPr>
          <p:cNvPr id="30" name="Text 28"/>
          <p:cNvSpPr txBox="1"/>
          <p:nvPr/>
        </p:nvSpPr>
        <p:spPr>
          <a:xfrm>
            <a:off x="8760605"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6</a:t>
            </a:r>
            <a:endParaRPr lang="en-US" sz="1800" dirty="0"/>
          </a:p>
        </p:txBody>
      </p:sp>
      <p:sp>
        <p:nvSpPr>
          <p:cNvPr id="31" name="Text 29"/>
          <p:cNvSpPr txBox="1"/>
          <p:nvPr/>
        </p:nvSpPr>
        <p:spPr>
          <a:xfrm>
            <a:off x="8760605"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모델 호출</a:t>
            </a:r>
            <a:endParaRPr lang="en-US" sz="1600" dirty="0"/>
          </a:p>
        </p:txBody>
      </p:sp>
      <p:sp>
        <p:nvSpPr>
          <p:cNvPr id="32" name="Text 30"/>
          <p:cNvSpPr txBox="1"/>
          <p:nvPr/>
        </p:nvSpPr>
        <p:spPr>
          <a:xfrm>
            <a:off x="8760605"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통과한 경우에만 부른다</a:t>
            </a:r>
            <a:endParaRPr lang="en-US" sz="1300" dirty="0"/>
          </a:p>
        </p:txBody>
      </p:sp>
      <p:sp>
        <p:nvSpPr>
          <p:cNvPr id="33" name="step-7"/>
          <p:cNvSpPr/>
          <p:nvPr/>
        </p:nvSpPr>
        <p:spPr>
          <a:xfrm>
            <a:off x="10183542" y="1554480"/>
            <a:ext cx="1459513" cy="2743200"/>
          </a:xfrm>
          <a:prstGeom prst="roundRect">
            <a:avLst>
              <a:gd name="adj" fmla="val 5012"/>
            </a:avLst>
          </a:prstGeom>
          <a:solidFill>
            <a:srgbClr val="F3F5F7"/>
          </a:solidFill>
          <a:ln/>
        </p:spPr>
      </p:sp>
      <p:sp>
        <p:nvSpPr>
          <p:cNvPr id="34" name="badge-7"/>
          <p:cNvSpPr/>
          <p:nvPr/>
        </p:nvSpPr>
        <p:spPr>
          <a:xfrm>
            <a:off x="10366422" y="1737360"/>
            <a:ext cx="502920" cy="502920"/>
          </a:xfrm>
          <a:prstGeom prst="ellipse">
            <a:avLst/>
          </a:prstGeom>
          <a:solidFill>
            <a:srgbClr val="2A78D6"/>
          </a:solidFill>
          <a:ln/>
        </p:spPr>
      </p:sp>
      <p:sp>
        <p:nvSpPr>
          <p:cNvPr id="35" name="Text 33"/>
          <p:cNvSpPr txBox="1"/>
          <p:nvPr/>
        </p:nvSpPr>
        <p:spPr>
          <a:xfrm>
            <a:off x="10366422"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7</a:t>
            </a:r>
            <a:endParaRPr lang="en-US" sz="1800" dirty="0"/>
          </a:p>
        </p:txBody>
      </p:sp>
      <p:sp>
        <p:nvSpPr>
          <p:cNvPr id="36" name="Text 34"/>
          <p:cNvSpPr txBox="1"/>
          <p:nvPr/>
        </p:nvSpPr>
        <p:spPr>
          <a:xfrm>
            <a:off x="10366422" y="2377440"/>
            <a:ext cx="1093753"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원문 대조</a:t>
            </a:r>
            <a:endParaRPr lang="en-US" sz="1600" dirty="0"/>
          </a:p>
        </p:txBody>
      </p:sp>
      <p:sp>
        <p:nvSpPr>
          <p:cNvPr id="37" name="Text 35"/>
          <p:cNvSpPr txBox="1"/>
          <p:nvPr/>
        </p:nvSpPr>
        <p:spPr>
          <a:xfrm>
            <a:off x="10366422" y="2834640"/>
            <a:ext cx="1139473" cy="12801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인용 페이지와 수치를 원문과 맞춘다</a:t>
            </a:r>
            <a:endParaRPr lang="en-US" sz="1300" dirty="0"/>
          </a:p>
        </p:txBody>
      </p:sp>
      <p:sp>
        <p:nvSpPr>
          <p:cNvPr id="38" name="Text 36"/>
          <p:cNvSpPr txBox="1"/>
          <p:nvPr/>
        </p:nvSpPr>
        <p:spPr>
          <a:xfrm>
            <a:off x="548640" y="4663440"/>
            <a:ext cx="11094415" cy="45720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주황색(2, 4, 5)이 차단 지점. 여기서 막히면 모델을 부르지 않고 “제공된 데이터시트에서 해당 내용을 확인할 수 없습니다” 로 답한다. 토큰 0.</a:t>
            </a:r>
            <a:endParaRPr lang="en-US" sz="1500" dirty="0"/>
          </a:p>
        </p:txBody>
      </p:sp>
      <p:sp>
        <p:nvSpPr>
          <p:cNvPr id="39" name="Text 37"/>
          <p:cNvSpPr txBox="1"/>
          <p:nvPr/>
        </p:nvSpPr>
        <p:spPr>
          <a:xfrm>
            <a:off x="548640" y="5212080"/>
            <a:ext cx="11094415" cy="45720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벡터 DB 없이 PDF, 청크, BM25 로만 돈다. 같은 질문은 항상 같은 근거와 같은 판정이 나온다.</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점수로는 못 막고 용어 비율로는 갈린다</a:t>
            </a:r>
            <a:endParaRPr lang="en-US" sz="3000" dirty="0"/>
          </a:p>
        </p:txBody>
      </p:sp>
      <p:pic>
        <p:nvPicPr>
          <p:cNvPr id="3" name="Image 0" descr="평가셋 질문별 BM25 1위 점수와 용어 등장 비율 분포. 점수로는 두 집단이 겹치고 용어 비율로는 갈린다">    </p:cNvPr>
          <p:cNvPicPr>
            <a:picLocks noChangeAspect="1"/>
          </p:cNvPicPr>
          <p:nvPr/>
        </p:nvPicPr>
        <p:blipFill>
          <a:blip r:embed="rId1"/>
          <a:stretch>
            <a:fillRect/>
          </a:stretch>
        </p:blipFill>
        <p:spPr>
          <a:xfrm>
            <a:off x="1202697" y="1280160"/>
            <a:ext cx="9786301" cy="3886200"/>
          </a:xfrm>
          <a:prstGeom prst="rect">
            <a:avLst/>
          </a:prstGeom>
        </p:spPr>
      </p:pic>
      <p:sp>
        <p:nvSpPr>
          <p:cNvPr id="4" name="Text 1"/>
          <p:cNvSpPr txBox="1"/>
          <p:nvPr/>
        </p:nvSpPr>
        <p:spPr>
          <a:xfrm>
            <a:off x="548640" y="5349240"/>
            <a:ext cx="11094415" cy="868680"/>
          </a:xfrm>
          <a:prstGeom prst="rect">
            <a:avLst/>
          </a:prstGeom>
          <a:noFill/>
          <a:ln/>
        </p:spPr>
        <p:txBody>
          <a:bodyPr wrap="square" lIns="0" tIns="0" rIns="0" bIns="0" rtlCol="0" anchor="t"/>
          <a:lstStyle/>
          <a:p>
            <a:pPr indent="0" marL="0">
              <a:spcAft>
                <a:spcPts val="600"/>
              </a:spcAft>
              <a:buNone/>
            </a:pPr>
            <a:r>
              <a:rPr lang="en-US" sz="1500" b="1" dirty="0">
                <a:solidFill>
                  <a:srgbClr val="1F2328"/>
                </a:solidFill>
                <a:latin typeface="Malgun Gothic" pitchFamily="34" charset="0"/>
                <a:ea typeface="Malgun Gothic" pitchFamily="34" charset="-122"/>
                <a:cs typeface="Malgun Gothic" pitchFamily="34" charset="-120"/>
              </a:rPr>
              <a:t>점수 기준만 쓰면 </a:t>
            </a:r>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“AEC-Q100 인증” 질문(1위 점수 12.5)이 정답 질문 최저 4.9 보다 높아 다 막을 수 없다.</a:t>
            </a:r>
            <a:endParaRPr lang="en-US" sz="1500" dirty="0"/>
          </a:p>
          <a:p>
            <a:pPr indent="0" marL="0">
              <a:spcAft>
                <a:spcPts val="600"/>
              </a:spcAft>
              <a:buNone/>
            </a:pPr>
            <a:r>
              <a:rPr lang="en-US" sz="1500" b="1" dirty="0">
                <a:solidFill>
                  <a:srgbClr val="1F2328"/>
                </a:solidFill>
                <a:latin typeface="Malgun Gothic" pitchFamily="34" charset="0"/>
                <a:ea typeface="Malgun Gothic" pitchFamily="34" charset="-122"/>
                <a:cs typeface="Malgun Gothic" pitchFamily="34" charset="-120"/>
              </a:rPr>
              <a:t>용어 등장 비율은 </a:t>
            </a:r>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정답 질문 최저 1.00, 문서에 없는 질문 최고 0.33. 가운데인 0.67 을 기준으로 하고 점수 기준(2.5)은 보조로 둔다.</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같은 평가셋에 모델만 바꿔 올렸다</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1417320"/>
                <a:gridCol w="1600200"/>
                <a:gridCol w="1600200"/>
                <a:gridCol w="1234440"/>
                <a:gridCol w="1417320"/>
                <a:gridCol w="1081735"/>
              </a:tblGrid>
              <a:tr h="475488">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모델</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정답 (3회)</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엄격 정답 (3회)</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변종 구분 (3회)</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잘못된 거절</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출력 토큰</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응답 시간</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475488">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gemma3:4b</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20~21/28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17~18/28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7/8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4</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44</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11.39초</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475488">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nemotron-3-nano:4b (사고 끔)</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23/28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21/28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4/8</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2</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54</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500" dirty="0">
                          <a:solidFill>
                            <a:srgbClr val="000000"/>
                          </a:solidFill>
                          <a:latin typeface="Malgun Gothic" pitchFamily="34" charset="0"/>
                          <a:ea typeface="Malgun Gothic" pitchFamily="34" charset="-122"/>
                          <a:cs typeface="Malgun Gothic" pitchFamily="34" charset="-120"/>
                        </a:rPr>
                        <a:t>12.78초</a:t>
                      </a:r>
                      <a:endParaRPr lang="en-US" sz="1500" dirty="0">
                        <a:latin typeface="Malgun Gothic" charset="0"/>
                        <a:ea typeface="Malgun Gothic" charset="0"/>
                        <a:cs typeface="Malgun Gothic" charset="0"/>
                      </a:endParaRPr>
                    </a:p>
                  </a:txBody>
                  <a:tcPr marL="91440" marR="9144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4" name="Text 1"/>
          <p:cNvSpPr txBox="1"/>
          <p:nvPr/>
        </p:nvSpPr>
        <p:spPr>
          <a:xfrm>
            <a:off x="548640" y="2980944"/>
            <a:ext cx="11094415" cy="45720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엄격 정답: 정답 사실이 있고 원문 대조(인용 페이지, 수치, 거절 문장 혼재)도 통과. 문자열 채점은 모순된 답도 정답으로 세므로 함께 본다.</a:t>
            </a:r>
            <a:endParaRPr lang="en-US" sz="1200" dirty="0"/>
          </a:p>
        </p:txBody>
      </p:sp>
      <p:sp>
        <p:nvSpPr>
          <p:cNvPr id="5" name="Text 2"/>
          <p:cNvSpPr txBox="1"/>
          <p:nvPr/>
        </p:nvSpPr>
        <p:spPr>
          <a:xfrm>
            <a:off x="548640" y="3483864"/>
            <a:ext cx="11094415" cy="45720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같은 설정으로 3회 돌린 범위. 온도 0 이어도 로컬 모델은 실행 조건에 따라 답이 바뀌었다 (바뀐 문항: gemma3:4b A01).</a:t>
            </a:r>
            <a:endParaRPr lang="en-US" sz="1200" dirty="0"/>
          </a:p>
        </p:txBody>
      </p:sp>
      <p:sp>
        <p:nvSpPr>
          <p:cNvPr id="6" name="Text 3"/>
          <p:cNvSpPr txBox="1"/>
          <p:nvPr/>
        </p:nvSpPr>
        <p:spPr>
          <a:xfrm>
            <a:off x="548640" y="4032504"/>
            <a:ext cx="11094415" cy="1005840"/>
          </a:xfrm>
          <a:prstGeom prst="rect">
            <a:avLst/>
          </a:prstGeom>
          <a:noFill/>
          <a:ln/>
        </p:spPr>
        <p:txBody>
          <a:bodyPr wrap="square" lIns="0" tIns="0" rIns="0" bIns="0" rtlCol="0" anchor="t"/>
          <a:lstStyle/>
          <a:p>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엄격 정답은 nemotron 이 3회 모두 21/28 로 높지만, 이 도구의 핵심인 변종 구분은 gemma3 가 7/8 로 높다. 정답률 하나로 고르면 결론이 뒤집혀 유형별로 나눠 본다.</a:t>
            </a:r>
            <a:endParaRPr lang="en-US" sz="1500" dirty="0"/>
          </a:p>
          <a:p>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nemotron 은 CH334R 패키지를 같은 표 옆 칸의 CH334U 값(QSOP28)으로 답했다. gemma3 는 평가 3회에서는 맞혔지만 시연 화면에서 단독으로 물으면 5회 모두 QSOP28 이었다. 4B 로컬 모델에 같은 표에서 변종 값을 고르는 일을 맡길 수 없다.</a:t>
            </a:r>
            <a:endParaRPr lang="en-US" sz="1500" dirty="0"/>
          </a:p>
        </p:txBody>
      </p:sp>
      <p:sp>
        <p:nvSpPr>
          <p:cNvPr id="7" name="Text 4"/>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모두 이 PC 에서 도는 무료 로컬 모델(Ollama)이다. 클라우드 모델(Claude Fable 5.1)은 같은 스크립트에 모델 이름만 바꿔 올리도록 준비했고, 비용 때문에 이번 제출에서는 실행하지 않았다.</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프로젝트 부품 전체로: 문서부터 고른다</a:t>
            </a:r>
            <a:endParaRPr lang="en-US" sz="3000" dirty="0"/>
          </a:p>
        </p:txBody>
      </p:sp>
      <p:sp>
        <p:nvSpPr>
          <p:cNvPr id="3" name="route"/>
          <p:cNvSpPr/>
          <p:nvPr/>
        </p:nvSpPr>
        <p:spPr>
          <a:xfrm>
            <a:off x="548640" y="1325880"/>
            <a:ext cx="5394960" cy="4572000"/>
          </a:xfrm>
          <a:prstGeom prst="roundRect">
            <a:avLst>
              <a:gd name="adj" fmla="val 1600"/>
            </a:avLst>
          </a:prstGeom>
          <a:solidFill>
            <a:srgbClr val="F3F5F7"/>
          </a:solidFill>
          <a:ln/>
        </p:spPr>
      </p:sp>
      <p:sp>
        <p:nvSpPr>
          <p:cNvPr id="4" name="Text 2"/>
          <p:cNvSpPr txBox="1"/>
          <p:nvPr/>
        </p:nvSpPr>
        <p:spPr>
          <a:xfrm>
            <a:off x="822960" y="1508760"/>
            <a:ext cx="4846320" cy="365760"/>
          </a:xfrm>
          <a:prstGeom prst="rect">
            <a:avLst/>
          </a:prstGeom>
          <a:noFill/>
          <a:ln/>
        </p:spPr>
        <p:txBody>
          <a:bodyPr wrap="square" lIns="0" tIns="0" rIns="0" bIns="0" rtlCol="0" anchor="t"/>
          <a:lstStyle/>
          <a:p>
            <a:pPr indent="0" marL="0">
              <a:buNone/>
            </a:pPr>
            <a:r>
              <a:rPr lang="en-US" sz="1700" b="1" dirty="0">
                <a:solidFill>
                  <a:srgbClr val="2A78D6"/>
                </a:solidFill>
                <a:latin typeface="Malgun Gothic" pitchFamily="34" charset="0"/>
                <a:ea typeface="Malgun Gothic" pitchFamily="34" charset="-122"/>
                <a:cs typeface="Malgun Gothic" pitchFamily="34" charset="-120"/>
              </a:rPr>
              <a:t>⓪ 문서 선택</a:t>
            </a:r>
            <a:endParaRPr lang="en-US" sz="1700" dirty="0"/>
          </a:p>
        </p:txBody>
      </p:sp>
      <p:sp>
        <p:nvSpPr>
          <p:cNvPr id="5" name="Text 3"/>
          <p:cNvSpPr txBox="1"/>
          <p:nvPr/>
        </p:nvSpPr>
        <p:spPr>
          <a:xfrm>
            <a:off x="822960" y="1965960"/>
            <a:ext cx="4846320" cy="3749040"/>
          </a:xfrm>
          <a:prstGeom prst="rect">
            <a:avLst/>
          </a:prstGeom>
          <a:noFill/>
          <a:ln/>
        </p:spPr>
        <p:txBody>
          <a:bodyPr wrap="square" lIns="0" tIns="0" rIns="0" bIns="0" rtlCol="0" anchor="t"/>
          <a:lstStyle/>
          <a:p>
            <a:pPr indent="0" marL="0">
              <a:spcAft>
                <a:spcPts val="800"/>
              </a:spcAft>
              <a:buNone/>
            </a:pPr>
            <a:r>
              <a:rPr lang="en-US" sz="1500" b="1" dirty="0">
                <a:solidFill>
                  <a:srgbClr val="1F2328"/>
                </a:solidFill>
                <a:latin typeface="Malgun Gothic" pitchFamily="34" charset="0"/>
                <a:ea typeface="Malgun Gothic" pitchFamily="34" charset="-122"/>
                <a:cs typeface="Malgun Gothic" pitchFamily="34" charset="-120"/>
              </a:rPr>
              <a:t>회로 기호는 BOM 으로 품번을 찾는다</a:t>
            </a:r>
            <a:endParaRPr lang="en-US" sz="1500" dirty="0"/>
          </a:p>
          <a:p>
            <a:pPr indent="0" marL="0">
              <a:spcAft>
                <a:spcPts val="800"/>
              </a:spcAft>
              <a:buNone/>
            </a:pPr>
            <a:r>
              <a:rPr lang="en-US" sz="1300" dirty="0">
                <a:solidFill>
                  <a:srgbClr val="5B6168"/>
                </a:solidFill>
                <a:latin typeface="Malgun Gothic" pitchFamily="34" charset="0"/>
                <a:ea typeface="Malgun Gothic" pitchFamily="34" charset="-122"/>
                <a:cs typeface="Malgun Gothic" pitchFamily="34" charset="-120"/>
              </a:rPr>
              <a:t>U5 → LMR33630ADDAR → 변종 LMR33630A</a:t>
            </a:r>
            <a:endParaRPr lang="en-US" sz="1500" dirty="0"/>
          </a:p>
          <a:p>
            <a:pPr indent="0" marL="0">
              <a:spcAft>
                <a:spcPts val="800"/>
              </a:spcAft>
              <a:buNone/>
            </a:pPr>
            <a:r>
              <a:rPr lang="en-US" sz="1500" b="1" dirty="0">
                <a:solidFill>
                  <a:srgbClr val="1F2328"/>
                </a:solidFill>
                <a:latin typeface="Malgun Gothic" pitchFamily="34" charset="0"/>
                <a:ea typeface="Malgun Gothic" pitchFamily="34" charset="-122"/>
                <a:cs typeface="Malgun Gothic" pitchFamily="34" charset="-120"/>
              </a:rPr>
              <a:t>문서 한 권으로 정해지면 그 안에서만 찾는다</a:t>
            </a:r>
            <a:endParaRPr lang="en-US" sz="1500" dirty="0"/>
          </a:p>
          <a:p>
            <a:pPr indent="0" marL="0">
              <a:spcAft>
                <a:spcPts val="800"/>
              </a:spcAft>
              <a:buNone/>
            </a:pPr>
            <a:r>
              <a:rPr lang="en-US" sz="1300" dirty="0">
                <a:solidFill>
                  <a:srgbClr val="5B6168"/>
                </a:solidFill>
                <a:latin typeface="Malgun Gothic" pitchFamily="34" charset="0"/>
                <a:ea typeface="Malgun Gothic" pitchFamily="34" charset="-122"/>
                <a:cs typeface="Malgun Gothic" pitchFamily="34" charset="-120"/>
              </a:rPr>
              <a:t>여러 PDF 를 한 색인에 섞으면 점수 분포가 바뀌고 다른 부품 근거가 섞인다</a:t>
            </a:r>
            <a:endParaRPr lang="en-US" sz="1500" dirty="0"/>
          </a:p>
          <a:p>
            <a:pPr indent="0" marL="0">
              <a:spcAft>
                <a:spcPts val="800"/>
              </a:spcAft>
              <a:buNone/>
            </a:pPr>
            <a:r>
              <a:rPr lang="en-US" sz="1500" b="1" dirty="0">
                <a:solidFill>
                  <a:srgbClr val="D2551F"/>
                </a:solidFill>
                <a:latin typeface="Malgun Gothic" pitchFamily="34" charset="0"/>
                <a:ea typeface="Malgun Gothic" pitchFamily="34" charset="-122"/>
                <a:cs typeface="Malgun Gothic" pitchFamily="34" charset="-120"/>
              </a:rPr>
              <a:t>정해지지 않으면 답하지 않는다</a:t>
            </a:r>
            <a:endParaRPr lang="en-US" sz="1500" dirty="0"/>
          </a:p>
          <a:p>
            <a:pPr indent="0" marL="0">
              <a:spcAft>
                <a:spcPts val="800"/>
              </a:spcAft>
              <a:buNone/>
            </a:pPr>
            <a:r>
              <a:rPr lang="en-US" sz="1300" dirty="0">
                <a:solidFill>
                  <a:srgbClr val="5B6168"/>
                </a:solidFill>
                <a:latin typeface="Malgun Gothic" pitchFamily="34" charset="0"/>
                <a:ea typeface="Malgun Gothic" pitchFamily="34" charset="-122"/>
                <a:cs typeface="Malgun Gothic" pitchFamily="34" charset="-120"/>
              </a:rPr>
              <a:t>두 부품 이상, 데이터시트 미등록(ESD, 다이오드, 수동 소자), BOM 에 없는 품번, 부품이 없는 질문</a:t>
            </a:r>
            <a:endParaRPr lang="en-US" sz="1500" dirty="0"/>
          </a:p>
          <a:p>
            <a:pPr indent="0" marL="0">
              <a:spcAft>
                <a:spcPts val="800"/>
              </a:spcAft>
              <a:buNone/>
            </a:pPr>
            <a:r>
              <a:rPr lang="en-US" sz="1500" b="1" dirty="0">
                <a:solidFill>
                  <a:srgbClr val="1F2328"/>
                </a:solidFill>
                <a:latin typeface="Malgun Gothic" pitchFamily="34" charset="0"/>
                <a:ea typeface="Malgun Gothic" pitchFamily="34" charset="-122"/>
                <a:cs typeface="Malgun Gothic" pitchFamily="34" charset="-120"/>
              </a:rPr>
              <a:t>화면에서 문서를 켜고 끈다</a:t>
            </a:r>
            <a:endParaRPr lang="en-US" sz="1500" dirty="0"/>
          </a:p>
          <a:p>
            <a:pPr indent="0" marL="0">
              <a:spcAft>
                <a:spcPts val="800"/>
              </a:spcAft>
              <a:buNone/>
            </a:pPr>
            <a:r>
              <a:rPr lang="en-US" sz="1300" dirty="0">
                <a:solidFill>
                  <a:srgbClr val="5B6168"/>
                </a:solidFill>
                <a:latin typeface="Malgun Gothic" pitchFamily="34" charset="0"/>
                <a:ea typeface="Malgun Gothic" pitchFamily="34" charset="-122"/>
                <a:cs typeface="Malgun Gothic" pitchFamily="34" charset="-120"/>
              </a:rPr>
              <a:t>한 권만 켜면 품번 없이 물어도 그 문서에서 찾는다 (변종은 BOM 품번 기준). 꺼진 문서는 검색하지 않는다</a:t>
            </a:r>
            <a:endParaRPr lang="en-US" sz="1500" dirty="0"/>
          </a:p>
        </p:txBody>
      </p:sp>
      <p:sp>
        <p:nvSpPr>
          <p:cNvPr id="6" name="Text 4"/>
          <p:cNvSpPr txBox="1"/>
          <p:nvPr/>
        </p:nvSpPr>
        <p:spPr>
          <a:xfrm>
            <a:off x="6263640" y="1371600"/>
            <a:ext cx="5379415" cy="365760"/>
          </a:xfrm>
          <a:prstGeom prst="rect">
            <a:avLst/>
          </a:prstGeom>
          <a:noFill/>
          <a:ln/>
        </p:spPr>
        <p:txBody>
          <a:bodyPr wrap="square" lIns="0" tIns="0" rIns="0" bIns="0" rtlCol="0" anchor="t"/>
          <a:lstStyle/>
          <a:p>
            <a:pPr indent="0" marL="0">
              <a:buNone/>
            </a:pPr>
            <a:r>
              <a:rPr lang="en-US" sz="1500" b="1" dirty="0">
                <a:solidFill>
                  <a:srgbClr val="1F2328"/>
                </a:solidFill>
                <a:latin typeface="Malgun Gothic" pitchFamily="34" charset="0"/>
                <a:ea typeface="Malgun Gothic" pitchFamily="34" charset="-122"/>
                <a:cs typeface="Malgun Gothic" pitchFamily="34" charset="-120"/>
              </a:rPr>
              <a:t>품번 규칙은 제조사마다 달라서 문서마다 등록한다</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63640" y="1828800"/>
          <a:ext cx="5379415" cy="914400"/>
        </p:xfrm>
        <a:graphic>
          <a:graphicData uri="http://schemas.openxmlformats.org/drawingml/2006/table">
            <a:tbl>
              <a:tblPr/>
              <a:tblGrid>
                <a:gridCol w="1463040"/>
                <a:gridCol w="2606040"/>
                <a:gridCol w="1310335"/>
              </a:tblGrid>
              <a:tr h="457200">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문서</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변종을 가르는 것</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변종이 아닌 꼬리</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457200">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CH334/CH335</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접미사 한 글자 (U, R, Q)</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없음</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457200">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TPS2552/53</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끝자리 2/3 = EN 극성, -1 = 래치오프</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DBV, R</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457200">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LMR33630</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A/B/C = 400 k / 1.4 M / 2.1 MHz</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DDA, RNX</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457200">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TPS7A20</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뒤 숫자 = 출력 전압 (33 = 3.3 V)</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P, DBV</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457200">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LM66100</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1종</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200" dirty="0">
                          <a:solidFill>
                            <a:srgbClr val="000000"/>
                          </a:solidFill>
                          <a:latin typeface="Malgun Gothic" pitchFamily="34" charset="0"/>
                          <a:ea typeface="Malgun Gothic" pitchFamily="34" charset="-122"/>
                          <a:cs typeface="Malgun Gothic" pitchFamily="34" charset="-120"/>
                        </a:rPr>
                        <a:t>DCK, R</a:t>
                      </a:r>
                      <a:endParaRPr lang="en-US" sz="12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8" name="Text 5"/>
          <p:cNvSpPr txBox="1"/>
          <p:nvPr/>
        </p:nvSpPr>
        <p:spPr>
          <a:xfrm>
            <a:off x="6263640" y="4846320"/>
            <a:ext cx="5379415" cy="5486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BOM 의 어느 부품이 어느 문서에 대응하는지는 이 규칙이 정한다. 사람이 손으로 잇지 않는다.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2부  회로도를 손으로 그리지 않았다</a:t>
            </a:r>
            <a:endParaRPr lang="en-US" sz="3000" dirty="0"/>
          </a:p>
        </p:txBody>
      </p:sp>
      <p:sp>
        <p:nvSpPr>
          <p:cNvPr id="3" name="Text 1"/>
          <p:cNvSpPr txBox="1"/>
          <p:nvPr/>
        </p:nvSpPr>
        <p:spPr>
          <a:xfrm>
            <a:off x="548640" y="1234440"/>
            <a:ext cx="11094415" cy="41148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IDEC 스마트 전자회로설계 챌린지 (2인 팀, 진행 중). 담당은 아날로그 회로, PCB, 시험 지그. MCU 없이 센서 PCB 와 FPGA 로 사각지대 충돌 경고</a:t>
            </a:r>
            <a:endParaRPr lang="en-US" sz="1300" dirty="0"/>
          </a:p>
        </p:txBody>
      </p:sp>
      <p:sp>
        <p:nvSpPr>
          <p:cNvPr id="4" name="flow-0"/>
          <p:cNvSpPr/>
          <p:nvPr/>
        </p:nvSpPr>
        <p:spPr>
          <a:xfrm>
            <a:off x="548640" y="1783080"/>
            <a:ext cx="1962851" cy="914400"/>
          </a:xfrm>
          <a:prstGeom prst="roundRect">
            <a:avLst>
              <a:gd name="adj" fmla="val 8000"/>
            </a:avLst>
          </a:prstGeom>
          <a:solidFill>
            <a:srgbClr val="F3F5F7"/>
          </a:solidFill>
          <a:ln/>
        </p:spPr>
      </p:sp>
      <p:sp>
        <p:nvSpPr>
          <p:cNvPr id="5" name="Text 3"/>
          <p:cNvSpPr txBox="1"/>
          <p:nvPr/>
        </p:nvSpPr>
        <p:spPr>
          <a:xfrm>
            <a:off x="685800" y="1874520"/>
            <a:ext cx="1688531" cy="365760"/>
          </a:xfrm>
          <a:prstGeom prst="rect">
            <a:avLst/>
          </a:prstGeom>
          <a:noFill/>
          <a:ln/>
        </p:spPr>
        <p:txBody>
          <a:bodyPr wrap="square" lIns="0" tIns="0" rIns="0" bIns="0" rtlCol="0" anchor="t"/>
          <a:lstStyle/>
          <a:p>
            <a:pPr algn="ctr" indent="0" marL="0">
              <a:buNone/>
            </a:pPr>
            <a:r>
              <a:rPr lang="en-US" sz="1500" b="1" dirty="0">
                <a:solidFill>
                  <a:srgbClr val="2A78D6"/>
                </a:solidFill>
                <a:latin typeface="Consolas" pitchFamily="34" charset="0"/>
                <a:ea typeface="Consolas" pitchFamily="34" charset="-122"/>
                <a:cs typeface="Consolas" pitchFamily="34" charset="-120"/>
              </a:rPr>
              <a:t>netlist.py</a:t>
            </a:r>
            <a:endParaRPr lang="en-US" sz="1500" dirty="0"/>
          </a:p>
        </p:txBody>
      </p:sp>
      <p:sp>
        <p:nvSpPr>
          <p:cNvPr id="6" name="Text 4"/>
          <p:cNvSpPr txBox="1"/>
          <p:nvPr/>
        </p:nvSpPr>
        <p:spPr>
          <a:xfrm>
            <a:off x="685800" y="2267712"/>
            <a:ext cx="1688531" cy="320040"/>
          </a:xfrm>
          <a:prstGeom prst="rect">
            <a:avLst/>
          </a:prstGeom>
          <a:noFill/>
          <a:ln/>
        </p:spPr>
        <p:txBody>
          <a:bodyPr wrap="square" lIns="0" tIns="0" rIns="0" bIns="0" rtlCol="0" anchor="t"/>
          <a:lstStyle/>
          <a:p>
            <a:pPr algn="ctr" indent="0" marL="0">
              <a:buNone/>
            </a:pPr>
            <a:r>
              <a:rPr lang="en-US" sz="1300" dirty="0">
                <a:solidFill>
                  <a:srgbClr val="1F2328"/>
                </a:solidFill>
                <a:latin typeface="Malgun Gothic" pitchFamily="34" charset="0"/>
                <a:ea typeface="Malgun Gothic" pitchFamily="34" charset="-122"/>
                <a:cs typeface="Malgun Gothic" pitchFamily="34" charset="-120"/>
              </a:rPr>
              <a:t>연결 정본</a:t>
            </a:r>
            <a:endParaRPr lang="en-US" sz="1300" dirty="0"/>
          </a:p>
        </p:txBody>
      </p:sp>
      <p:sp>
        <p:nvSpPr>
          <p:cNvPr id="7" name="Text 5"/>
          <p:cNvSpPr txBox="1"/>
          <p:nvPr/>
        </p:nvSpPr>
        <p:spPr>
          <a:xfrm>
            <a:off x="2511491" y="2011680"/>
            <a:ext cx="320040" cy="365760"/>
          </a:xfrm>
          <a:prstGeom prst="rect">
            <a:avLst/>
          </a:prstGeom>
          <a:noFill/>
          <a:ln/>
        </p:spPr>
        <p:txBody>
          <a:bodyPr wrap="square" lIns="0" tIns="0" rIns="0" bIns="0" rtlCol="0" anchor="t"/>
          <a:lstStyle/>
          <a:p>
            <a:pPr algn="ctr" indent="0" marL="0">
              <a:buNone/>
            </a:pPr>
            <a:r>
              <a:rPr lang="en-US" sz="1800" dirty="0">
                <a:solidFill>
                  <a:srgbClr val="5B6168"/>
                </a:solidFill>
                <a:latin typeface="Malgun Gothic" pitchFamily="34" charset="0"/>
                <a:ea typeface="Malgun Gothic" pitchFamily="34" charset="-122"/>
                <a:cs typeface="Malgun Gothic" pitchFamily="34" charset="-120"/>
              </a:rPr>
              <a:t>→</a:t>
            </a:r>
            <a:endParaRPr lang="en-US" sz="1800" dirty="0"/>
          </a:p>
        </p:txBody>
      </p:sp>
      <p:sp>
        <p:nvSpPr>
          <p:cNvPr id="8" name="flow-1"/>
          <p:cNvSpPr/>
          <p:nvPr/>
        </p:nvSpPr>
        <p:spPr>
          <a:xfrm>
            <a:off x="2831531" y="1783080"/>
            <a:ext cx="1962851" cy="914400"/>
          </a:xfrm>
          <a:prstGeom prst="roundRect">
            <a:avLst>
              <a:gd name="adj" fmla="val 8000"/>
            </a:avLst>
          </a:prstGeom>
          <a:solidFill>
            <a:srgbClr val="F3F5F7"/>
          </a:solidFill>
          <a:ln/>
        </p:spPr>
      </p:sp>
      <p:sp>
        <p:nvSpPr>
          <p:cNvPr id="9" name="Text 7"/>
          <p:cNvSpPr txBox="1"/>
          <p:nvPr/>
        </p:nvSpPr>
        <p:spPr>
          <a:xfrm>
            <a:off x="2968691" y="1874520"/>
            <a:ext cx="1688531" cy="365760"/>
          </a:xfrm>
          <a:prstGeom prst="rect">
            <a:avLst/>
          </a:prstGeom>
          <a:noFill/>
          <a:ln/>
        </p:spPr>
        <p:txBody>
          <a:bodyPr wrap="square" lIns="0" tIns="0" rIns="0" bIns="0" rtlCol="0" anchor="t"/>
          <a:lstStyle/>
          <a:p>
            <a:pPr algn="ctr" indent="0" marL="0">
              <a:buNone/>
            </a:pPr>
            <a:r>
              <a:rPr lang="en-US" sz="1500" b="1" dirty="0">
                <a:solidFill>
                  <a:srgbClr val="5B6168"/>
                </a:solidFill>
                <a:latin typeface="Consolas" pitchFamily="34" charset="0"/>
                <a:ea typeface="Consolas" pitchFamily="34" charset="-122"/>
                <a:cs typeface="Consolas" pitchFamily="34" charset="-120"/>
              </a:rPr>
              <a:t>gen_sch.py</a:t>
            </a:r>
            <a:endParaRPr lang="en-US" sz="1500" dirty="0"/>
          </a:p>
        </p:txBody>
      </p:sp>
      <p:sp>
        <p:nvSpPr>
          <p:cNvPr id="10" name="Text 8"/>
          <p:cNvSpPr txBox="1"/>
          <p:nvPr/>
        </p:nvSpPr>
        <p:spPr>
          <a:xfrm>
            <a:off x="2968691" y="2267712"/>
            <a:ext cx="1688531" cy="320040"/>
          </a:xfrm>
          <a:prstGeom prst="rect">
            <a:avLst/>
          </a:prstGeom>
          <a:noFill/>
          <a:ln/>
        </p:spPr>
        <p:txBody>
          <a:bodyPr wrap="square" lIns="0" tIns="0" rIns="0" bIns="0" rtlCol="0" anchor="t"/>
          <a:lstStyle/>
          <a:p>
            <a:pPr algn="ctr" indent="0" marL="0">
              <a:buNone/>
            </a:pPr>
            <a:r>
              <a:rPr lang="en-US" sz="1300" dirty="0">
                <a:solidFill>
                  <a:srgbClr val="1F2328"/>
                </a:solidFill>
                <a:latin typeface="Malgun Gothic" pitchFamily="34" charset="0"/>
                <a:ea typeface="Malgun Gothic" pitchFamily="34" charset="-122"/>
                <a:cs typeface="Malgun Gothic" pitchFamily="34" charset="-120"/>
              </a:rPr>
              <a:t>회로도 생성</a:t>
            </a:r>
            <a:endParaRPr lang="en-US" sz="1300" dirty="0"/>
          </a:p>
        </p:txBody>
      </p:sp>
      <p:sp>
        <p:nvSpPr>
          <p:cNvPr id="11" name="Text 9"/>
          <p:cNvSpPr txBox="1"/>
          <p:nvPr/>
        </p:nvSpPr>
        <p:spPr>
          <a:xfrm>
            <a:off x="4794382" y="2011680"/>
            <a:ext cx="320040" cy="365760"/>
          </a:xfrm>
          <a:prstGeom prst="rect">
            <a:avLst/>
          </a:prstGeom>
          <a:noFill/>
          <a:ln/>
        </p:spPr>
        <p:txBody>
          <a:bodyPr wrap="square" lIns="0" tIns="0" rIns="0" bIns="0" rtlCol="0" anchor="t"/>
          <a:lstStyle/>
          <a:p>
            <a:pPr algn="ctr" indent="0" marL="0">
              <a:buNone/>
            </a:pPr>
            <a:r>
              <a:rPr lang="en-US" sz="1800" dirty="0">
                <a:solidFill>
                  <a:srgbClr val="5B6168"/>
                </a:solidFill>
                <a:latin typeface="Malgun Gothic" pitchFamily="34" charset="0"/>
                <a:ea typeface="Malgun Gothic" pitchFamily="34" charset="-122"/>
                <a:cs typeface="Malgun Gothic" pitchFamily="34" charset="-120"/>
              </a:rPr>
              <a:t>→</a:t>
            </a:r>
            <a:endParaRPr lang="en-US" sz="1800" dirty="0"/>
          </a:p>
        </p:txBody>
      </p:sp>
      <p:sp>
        <p:nvSpPr>
          <p:cNvPr id="12" name="flow-2"/>
          <p:cNvSpPr/>
          <p:nvPr/>
        </p:nvSpPr>
        <p:spPr>
          <a:xfrm>
            <a:off x="5114422" y="1783080"/>
            <a:ext cx="1962851" cy="914400"/>
          </a:xfrm>
          <a:prstGeom prst="roundRect">
            <a:avLst>
              <a:gd name="adj" fmla="val 8000"/>
            </a:avLst>
          </a:prstGeom>
          <a:solidFill>
            <a:srgbClr val="F3F5F7"/>
          </a:solidFill>
          <a:ln/>
        </p:spPr>
      </p:sp>
      <p:sp>
        <p:nvSpPr>
          <p:cNvPr id="13" name="Text 11"/>
          <p:cNvSpPr txBox="1"/>
          <p:nvPr/>
        </p:nvSpPr>
        <p:spPr>
          <a:xfrm>
            <a:off x="5251582" y="1874520"/>
            <a:ext cx="1688531" cy="365760"/>
          </a:xfrm>
          <a:prstGeom prst="rect">
            <a:avLst/>
          </a:prstGeom>
          <a:noFill/>
          <a:ln/>
        </p:spPr>
        <p:txBody>
          <a:bodyPr wrap="square" lIns="0" tIns="0" rIns="0" bIns="0" rtlCol="0" anchor="t"/>
          <a:lstStyle/>
          <a:p>
            <a:pPr algn="ctr" indent="0" marL="0">
              <a:buNone/>
            </a:pPr>
            <a:r>
              <a:rPr lang="en-US" sz="1500" b="1" dirty="0">
                <a:solidFill>
                  <a:srgbClr val="5B6168"/>
                </a:solidFill>
                <a:latin typeface="Consolas" pitchFamily="34" charset="0"/>
                <a:ea typeface="Consolas" pitchFamily="34" charset="-122"/>
                <a:cs typeface="Consolas" pitchFamily="34" charset="-120"/>
              </a:rPr>
              <a:t>kicad-cli</a:t>
            </a:r>
            <a:endParaRPr lang="en-US" sz="1500" dirty="0"/>
          </a:p>
        </p:txBody>
      </p:sp>
      <p:sp>
        <p:nvSpPr>
          <p:cNvPr id="14" name="Text 12"/>
          <p:cNvSpPr txBox="1"/>
          <p:nvPr/>
        </p:nvSpPr>
        <p:spPr>
          <a:xfrm>
            <a:off x="5251582" y="2267712"/>
            <a:ext cx="1688531" cy="320040"/>
          </a:xfrm>
          <a:prstGeom prst="rect">
            <a:avLst/>
          </a:prstGeom>
          <a:noFill/>
          <a:ln/>
        </p:spPr>
        <p:txBody>
          <a:bodyPr wrap="square" lIns="0" tIns="0" rIns="0" bIns="0" rtlCol="0" anchor="t"/>
          <a:lstStyle/>
          <a:p>
            <a:pPr algn="ctr" indent="0" marL="0">
              <a:buNone/>
            </a:pPr>
            <a:r>
              <a:rPr lang="en-US" sz="1300" dirty="0">
                <a:solidFill>
                  <a:srgbClr val="1F2328"/>
                </a:solidFill>
                <a:latin typeface="Malgun Gothic" pitchFamily="34" charset="0"/>
                <a:ea typeface="Malgun Gothic" pitchFamily="34" charset="-122"/>
                <a:cs typeface="Malgun Gothic" pitchFamily="34" charset="-120"/>
              </a:rPr>
              <a:t>넷리스트 추출</a:t>
            </a:r>
            <a:endParaRPr lang="en-US" sz="1300" dirty="0"/>
          </a:p>
        </p:txBody>
      </p:sp>
      <p:sp>
        <p:nvSpPr>
          <p:cNvPr id="15" name="Text 13"/>
          <p:cNvSpPr txBox="1"/>
          <p:nvPr/>
        </p:nvSpPr>
        <p:spPr>
          <a:xfrm>
            <a:off x="7077273" y="2011680"/>
            <a:ext cx="320040" cy="365760"/>
          </a:xfrm>
          <a:prstGeom prst="rect">
            <a:avLst/>
          </a:prstGeom>
          <a:noFill/>
          <a:ln/>
        </p:spPr>
        <p:txBody>
          <a:bodyPr wrap="square" lIns="0" tIns="0" rIns="0" bIns="0" rtlCol="0" anchor="t"/>
          <a:lstStyle/>
          <a:p>
            <a:pPr algn="ctr" indent="0" marL="0">
              <a:buNone/>
            </a:pPr>
            <a:r>
              <a:rPr lang="en-US" sz="1800" dirty="0">
                <a:solidFill>
                  <a:srgbClr val="5B6168"/>
                </a:solidFill>
                <a:latin typeface="Malgun Gothic" pitchFamily="34" charset="0"/>
                <a:ea typeface="Malgun Gothic" pitchFamily="34" charset="-122"/>
                <a:cs typeface="Malgun Gothic" pitchFamily="34" charset="-120"/>
              </a:rPr>
              <a:t>→</a:t>
            </a:r>
            <a:endParaRPr lang="en-US" sz="1800" dirty="0"/>
          </a:p>
        </p:txBody>
      </p:sp>
      <p:sp>
        <p:nvSpPr>
          <p:cNvPr id="16" name="flow-3"/>
          <p:cNvSpPr/>
          <p:nvPr/>
        </p:nvSpPr>
        <p:spPr>
          <a:xfrm>
            <a:off x="7397313" y="1783080"/>
            <a:ext cx="1962851" cy="914400"/>
          </a:xfrm>
          <a:prstGeom prst="roundRect">
            <a:avLst>
              <a:gd name="adj" fmla="val 8000"/>
            </a:avLst>
          </a:prstGeom>
          <a:solidFill>
            <a:srgbClr val="F3F5F7"/>
          </a:solidFill>
          <a:ln/>
        </p:spPr>
      </p:sp>
      <p:sp>
        <p:nvSpPr>
          <p:cNvPr id="17" name="Text 15"/>
          <p:cNvSpPr txBox="1"/>
          <p:nvPr/>
        </p:nvSpPr>
        <p:spPr>
          <a:xfrm>
            <a:off x="7534473" y="1874520"/>
            <a:ext cx="1688531" cy="365760"/>
          </a:xfrm>
          <a:prstGeom prst="rect">
            <a:avLst/>
          </a:prstGeom>
          <a:noFill/>
          <a:ln/>
        </p:spPr>
        <p:txBody>
          <a:bodyPr wrap="square" lIns="0" tIns="0" rIns="0" bIns="0" rtlCol="0" anchor="t"/>
          <a:lstStyle/>
          <a:p>
            <a:pPr algn="ctr" indent="0" marL="0">
              <a:buNone/>
            </a:pPr>
            <a:r>
              <a:rPr lang="en-US" sz="1500" b="1" dirty="0">
                <a:solidFill>
                  <a:srgbClr val="D2551F"/>
                </a:solidFill>
                <a:latin typeface="Consolas" pitchFamily="34" charset="0"/>
                <a:ea typeface="Consolas" pitchFamily="34" charset="-122"/>
                <a:cs typeface="Consolas" pitchFamily="34" charset="-120"/>
              </a:rPr>
              <a:t>check_netlist.py</a:t>
            </a:r>
            <a:endParaRPr lang="en-US" sz="1500" dirty="0"/>
          </a:p>
        </p:txBody>
      </p:sp>
      <p:sp>
        <p:nvSpPr>
          <p:cNvPr id="18" name="Text 16"/>
          <p:cNvSpPr txBox="1"/>
          <p:nvPr/>
        </p:nvSpPr>
        <p:spPr>
          <a:xfrm>
            <a:off x="7534473" y="2267712"/>
            <a:ext cx="1688531" cy="320040"/>
          </a:xfrm>
          <a:prstGeom prst="rect">
            <a:avLst/>
          </a:prstGeom>
          <a:noFill/>
          <a:ln/>
        </p:spPr>
        <p:txBody>
          <a:bodyPr wrap="square" lIns="0" tIns="0" rIns="0" bIns="0" rtlCol="0" anchor="t"/>
          <a:lstStyle/>
          <a:p>
            <a:pPr algn="ctr" indent="0" marL="0">
              <a:buNone/>
            </a:pPr>
            <a:r>
              <a:rPr lang="en-US" sz="1300" dirty="0">
                <a:solidFill>
                  <a:srgbClr val="1F2328"/>
                </a:solidFill>
                <a:latin typeface="Malgun Gothic" pitchFamily="34" charset="0"/>
                <a:ea typeface="Malgun Gothic" pitchFamily="34" charset="-122"/>
                <a:cs typeface="Malgun Gothic" pitchFamily="34" charset="-120"/>
              </a:rPr>
              <a:t>9개 항목 검사</a:t>
            </a:r>
            <a:endParaRPr lang="en-US" sz="1300" dirty="0"/>
          </a:p>
        </p:txBody>
      </p:sp>
      <p:sp>
        <p:nvSpPr>
          <p:cNvPr id="19" name="Text 17"/>
          <p:cNvSpPr txBox="1"/>
          <p:nvPr/>
        </p:nvSpPr>
        <p:spPr>
          <a:xfrm>
            <a:off x="9360164" y="2011680"/>
            <a:ext cx="320040" cy="365760"/>
          </a:xfrm>
          <a:prstGeom prst="rect">
            <a:avLst/>
          </a:prstGeom>
          <a:noFill/>
          <a:ln/>
        </p:spPr>
        <p:txBody>
          <a:bodyPr wrap="square" lIns="0" tIns="0" rIns="0" bIns="0" rtlCol="0" anchor="t"/>
          <a:lstStyle/>
          <a:p>
            <a:pPr algn="ctr" indent="0" marL="0">
              <a:buNone/>
            </a:pPr>
            <a:r>
              <a:rPr lang="en-US" sz="1800" dirty="0">
                <a:solidFill>
                  <a:srgbClr val="5B6168"/>
                </a:solidFill>
                <a:latin typeface="Malgun Gothic" pitchFamily="34" charset="0"/>
                <a:ea typeface="Malgun Gothic" pitchFamily="34" charset="-122"/>
                <a:cs typeface="Malgun Gothic" pitchFamily="34" charset="-120"/>
              </a:rPr>
              <a:t>→</a:t>
            </a:r>
            <a:endParaRPr lang="en-US" sz="1800" dirty="0"/>
          </a:p>
        </p:txBody>
      </p:sp>
      <p:sp>
        <p:nvSpPr>
          <p:cNvPr id="20" name="flow-4"/>
          <p:cNvSpPr/>
          <p:nvPr/>
        </p:nvSpPr>
        <p:spPr>
          <a:xfrm>
            <a:off x="9680204" y="1783080"/>
            <a:ext cx="1962851" cy="914400"/>
          </a:xfrm>
          <a:prstGeom prst="roundRect">
            <a:avLst>
              <a:gd name="adj" fmla="val 8000"/>
            </a:avLst>
          </a:prstGeom>
          <a:solidFill>
            <a:srgbClr val="F3F5F7"/>
          </a:solidFill>
          <a:ln/>
        </p:spPr>
      </p:sp>
      <p:sp>
        <p:nvSpPr>
          <p:cNvPr id="21" name="Text 19"/>
          <p:cNvSpPr txBox="1"/>
          <p:nvPr/>
        </p:nvSpPr>
        <p:spPr>
          <a:xfrm>
            <a:off x="9817364" y="1874520"/>
            <a:ext cx="1688531" cy="365760"/>
          </a:xfrm>
          <a:prstGeom prst="rect">
            <a:avLst/>
          </a:prstGeom>
          <a:noFill/>
          <a:ln/>
        </p:spPr>
        <p:txBody>
          <a:bodyPr wrap="square" lIns="0" tIns="0" rIns="0" bIns="0" rtlCol="0" anchor="t"/>
          <a:lstStyle/>
          <a:p>
            <a:pPr algn="ctr" indent="0" marL="0">
              <a:buNone/>
            </a:pPr>
            <a:r>
              <a:rPr lang="en-US" sz="1500" b="1" dirty="0">
                <a:solidFill>
                  <a:srgbClr val="2A78D6"/>
                </a:solidFill>
                <a:latin typeface="Consolas" pitchFamily="34" charset="0"/>
                <a:ea typeface="Consolas" pitchFamily="34" charset="-122"/>
                <a:cs typeface="Consolas" pitchFamily="34" charset="-120"/>
              </a:rPr>
              <a:t>ERC</a:t>
            </a:r>
            <a:endParaRPr lang="en-US" sz="1500" dirty="0"/>
          </a:p>
        </p:txBody>
      </p:sp>
      <p:sp>
        <p:nvSpPr>
          <p:cNvPr id="22" name="Text 20"/>
          <p:cNvSpPr txBox="1"/>
          <p:nvPr/>
        </p:nvSpPr>
        <p:spPr>
          <a:xfrm>
            <a:off x="9817364" y="2267712"/>
            <a:ext cx="1688531" cy="320040"/>
          </a:xfrm>
          <a:prstGeom prst="rect">
            <a:avLst/>
          </a:prstGeom>
          <a:noFill/>
          <a:ln/>
        </p:spPr>
        <p:txBody>
          <a:bodyPr wrap="square" lIns="0" tIns="0" rIns="0" bIns="0" rtlCol="0" anchor="t"/>
          <a:lstStyle/>
          <a:p>
            <a:pPr algn="ctr" indent="0" marL="0">
              <a:buNone/>
            </a:pPr>
            <a:r>
              <a:rPr lang="en-US" sz="1300" dirty="0">
                <a:solidFill>
                  <a:srgbClr val="1F2328"/>
                </a:solidFill>
                <a:latin typeface="Malgun Gothic" pitchFamily="34" charset="0"/>
                <a:ea typeface="Malgun Gothic" pitchFamily="34" charset="-122"/>
                <a:cs typeface="Malgun Gothic" pitchFamily="34" charset="-120"/>
              </a:rPr>
              <a:t>0 violations</a:t>
            </a:r>
            <a:endParaRPr lang="en-US" sz="1300" dirty="0"/>
          </a:p>
        </p:txBody>
      </p:sp>
      <p:sp>
        <p:nvSpPr>
          <p:cNvPr id="23" name="idec-mine"/>
          <p:cNvSpPr/>
          <p:nvPr/>
        </p:nvSpPr>
        <p:spPr>
          <a:xfrm>
            <a:off x="548640" y="2971800"/>
            <a:ext cx="5120640" cy="2514600"/>
          </a:xfrm>
          <a:prstGeom prst="roundRect">
            <a:avLst>
              <a:gd name="adj" fmla="val 2909"/>
            </a:avLst>
          </a:prstGeom>
          <a:solidFill>
            <a:srgbClr val="F3F5F7"/>
          </a:solidFill>
          <a:ln/>
        </p:spPr>
      </p:sp>
      <p:sp>
        <p:nvSpPr>
          <p:cNvPr id="24" name="Text 22"/>
          <p:cNvSpPr txBox="1"/>
          <p:nvPr/>
        </p:nvSpPr>
        <p:spPr>
          <a:xfrm>
            <a:off x="822960" y="3154680"/>
            <a:ext cx="4572000" cy="365760"/>
          </a:xfrm>
          <a:prstGeom prst="rect">
            <a:avLst/>
          </a:prstGeom>
          <a:noFill/>
          <a:ln/>
        </p:spPr>
        <p:txBody>
          <a:bodyPr wrap="square" lIns="0" tIns="0" rIns="0" bIns="0" rtlCol="0" anchor="t"/>
          <a:lstStyle/>
          <a:p>
            <a:pPr indent="0" marL="0">
              <a:buNone/>
            </a:pPr>
            <a:r>
              <a:rPr lang="en-US" sz="1700" b="1" dirty="0">
                <a:solidFill>
                  <a:srgbClr val="2A78D6"/>
                </a:solidFill>
                <a:latin typeface="Malgun Gothic" pitchFamily="34" charset="0"/>
                <a:ea typeface="Malgun Gothic" pitchFamily="34" charset="-122"/>
                <a:cs typeface="Malgun Gothic" pitchFamily="34" charset="-120"/>
              </a:rPr>
              <a:t>직접 정한 것</a:t>
            </a:r>
            <a:endParaRPr lang="en-US" sz="1700" dirty="0"/>
          </a:p>
        </p:txBody>
      </p:sp>
      <p:sp>
        <p:nvSpPr>
          <p:cNvPr id="25" name="Text 23"/>
          <p:cNvSpPr txBox="1"/>
          <p:nvPr/>
        </p:nvSpPr>
        <p:spPr>
          <a:xfrm>
            <a:off x="822960" y="3611880"/>
            <a:ext cx="45720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연결의 정본은 도면이 아니라 코드다. 연결을 바꿀 때는 netlist.py 를 고치고 다시 생성한다</a:t>
            </a:r>
            <a:endParaRPr lang="en-US" sz="1400" dirty="0"/>
          </a:p>
          <a:p>
            <a:pPr marL="342900" indent="-342900">
              <a:spcAft>
                <a:spcPts val="8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무엇을 검사하고 무엇을 통과로 볼지</a:t>
            </a:r>
            <a:endParaRPr lang="en-US" sz="1400" dirty="0"/>
          </a:p>
          <a:p>
            <a:pPr marL="342900" indent="-342900">
              <a:spcAft>
                <a:spcPts val="8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검사가 놓친 결함을 어떤 검사로 막을지</a:t>
            </a:r>
            <a:endParaRPr lang="en-US" sz="1400" dirty="0"/>
          </a:p>
          <a:p>
            <a:pPr marL="342900" indent="-342900">
              <a:spcAft>
                <a:spcPts val="800"/>
              </a:spcAft>
              <a:buSzPct val="100000"/>
              <a:buChar char="•"/>
            </a:pPr>
            <a:r>
              <a:rPr lang="en-US" sz="1400" dirty="0">
                <a:solidFill>
                  <a:srgbClr val="5B6168"/>
                </a:solidFill>
                <a:latin typeface="Malgun Gothic" pitchFamily="34" charset="0"/>
                <a:ea typeface="Malgun Gothic" pitchFamily="34" charset="-122"/>
                <a:cs typeface="Malgun Gothic" pitchFamily="34" charset="-120"/>
              </a:rPr>
              <a:t>생성기, 검사기, 배치기는 Claude 로 구현</a:t>
            </a:r>
            <a:endParaRPr lang="en-US" sz="1400" dirty="0"/>
          </a:p>
        </p:txBody>
      </p:sp>
      <p:pic>
        <p:nvPicPr>
          <p:cNvPr id="26" name="Image 0" descr="코드로 생성한 회로도 일부. 선 대신 네트 라벨로 연결">    </p:cNvPr>
          <p:cNvPicPr>
            <a:picLocks noChangeAspect="1"/>
          </p:cNvPicPr>
          <p:nvPr/>
        </p:nvPicPr>
        <p:blipFill>
          <a:blip r:embed="rId1"/>
          <a:stretch>
            <a:fillRect/>
          </a:stretch>
        </p:blipFill>
        <p:spPr>
          <a:xfrm>
            <a:off x="5989320" y="2971800"/>
            <a:ext cx="5653735" cy="2104657"/>
          </a:xfrm>
          <a:prstGeom prst="rect">
            <a:avLst/>
          </a:prstGeom>
        </p:spPr>
      </p:pic>
      <p:sp>
        <p:nvSpPr>
          <p:cNvPr id="27" name="Text 24"/>
          <p:cNvSpPr txBox="1"/>
          <p:nvPr/>
        </p:nvSpPr>
        <p:spPr>
          <a:xfrm>
            <a:off x="5989320" y="5149609"/>
            <a:ext cx="5653735" cy="32004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생성된 회로도 일부. 선을 긋지 않고 네트 이름으로 연결한다</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전 항목 통과는 승인이 아니었다</a:t>
            </a:r>
            <a:endParaRPr lang="en-US" sz="3000" dirty="0"/>
          </a:p>
        </p:txBody>
      </p:sp>
      <p:sp>
        <p:nvSpPr>
          <p:cNvPr id="3"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검사를 모두 통과한 회로도에서 PCB 발주 전에 결함 3건을 더 찾았다. 검사기는 자기가 보는 것만 본다.</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3566160"/>
                <a:gridCol w="4023360"/>
                <a:gridCol w="3504895"/>
              </a:tblGrid>
              <a:tr h="685800">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결함</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검사가 놓친 이유</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조치</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68580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J4, J8A, J8B 의 GND 가 Pmod VCC 패드에 물림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핀 번호가 맞는지는 보지 않았다. Pmod 논리번호를 IDC 패드번호로 그대로 씀</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DEC-026 신설. 검사기가 세 커넥터 12패드를 전수 대조</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68580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C13 전해 커패시터 극성이 BOM 지시와 반대</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극성 소자의 방향을 보는 항목이 없었다</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D2551F"/>
                          </a:solidFill>
                          <a:latin typeface="Malgun Gothic" pitchFamily="34" charset="0"/>
                          <a:ea typeface="Malgun Gothic" pitchFamily="34" charset="-122"/>
                          <a:cs typeface="Malgun Gothic" pitchFamily="34" charset="-120"/>
                        </a:rPr>
                        <a:t>netlist.py 수정. 극성 검사는 아직 자동화하지 못함 (미해결)</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68580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U8(78L08)이 BOM 은 미실장인데 회로도는 실장</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생성기가 실장 여부를 고정값으로 넣었다. 넷리스트에는 미실장 개념이 없다</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gen_sch.py 가 BOM 의 DNP 열을 읽는다</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5" name="rev-r1"/>
          <p:cNvSpPr/>
          <p:nvPr/>
        </p:nvSpPr>
        <p:spPr>
          <a:xfrm>
            <a:off x="548640" y="4892040"/>
            <a:ext cx="11094415" cy="868680"/>
          </a:xfrm>
          <a:prstGeom prst="roundRect">
            <a:avLst>
              <a:gd name="adj" fmla="val 8421"/>
            </a:avLst>
          </a:prstGeom>
          <a:solidFill>
            <a:srgbClr val="F3F5F7"/>
          </a:solidFill>
          <a:ln/>
        </p:spPr>
      </p:sp>
      <p:sp>
        <p:nvSpPr>
          <p:cNvPr id="6" name="Text 3"/>
          <p:cNvSpPr txBox="1"/>
          <p:nvPr/>
        </p:nvSpPr>
        <p:spPr>
          <a:xfrm>
            <a:off x="822960" y="5029200"/>
            <a:ext cx="10545775" cy="822960"/>
          </a:xfrm>
          <a:prstGeom prst="rect">
            <a:avLst/>
          </a:prstGeom>
          <a:noFill/>
          <a:ln/>
        </p:spPr>
        <p:txBody>
          <a:bodyPr wrap="square" lIns="0" tIns="0" rIns="0" bIns="0" rtlCol="0" anchor="t"/>
          <a:lstStyle/>
          <a:p>
            <a:pPr indent="0" marL="0">
              <a:buNone/>
            </a:pPr>
            <a:r>
              <a:rPr lang="en-US" sz="1400" b="1" dirty="0">
                <a:solidFill>
                  <a:srgbClr val="1F2328"/>
                </a:solidFill>
                <a:latin typeface="Malgun Gothic" pitchFamily="34" charset="0"/>
                <a:ea typeface="Malgun Gothic" pitchFamily="34" charset="-122"/>
                <a:cs typeface="Malgun Gothic" pitchFamily="34" charset="-120"/>
              </a:rPr>
              <a:t>재검증  </a:t>
            </a:r>
            <a:pPr indent="0" marL="0">
              <a:buNone/>
            </a:pPr>
            <a:r>
              <a:rPr lang="en-US" sz="1400" dirty="0">
                <a:solidFill>
                  <a:srgbClr val="1F2328"/>
                </a:solidFill>
                <a:latin typeface="Malgun Gothic" pitchFamily="34" charset="0"/>
                <a:ea typeface="Malgun Gothic" pitchFamily="34" charset="-122"/>
                <a:cs typeface="Malgun Gothic" pitchFamily="34" charset="-120"/>
              </a:rPr>
              <a:t>ERC 0 violations, 검사기 전 항목 통과. 그래도 PCB 배치는 36점 미배치로 통과하지 못해 “회로도 확정은 배치 확정이 아니다”라고 문서에 남겼다.</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팀 운영도 같은 방식: 완료 조건을 먼저 쓴다</a:t>
            </a:r>
            <a:endParaRPr lang="en-US" sz="3000" dirty="0"/>
          </a:p>
        </p:txBody>
      </p:sp>
      <p:sp>
        <p:nvSpPr>
          <p:cNvPr id="3" name="ops-0"/>
          <p:cNvSpPr/>
          <p:nvPr/>
        </p:nvSpPr>
        <p:spPr>
          <a:xfrm>
            <a:off x="548640" y="1325880"/>
            <a:ext cx="2036003" cy="1325880"/>
          </a:xfrm>
          <a:prstGeom prst="roundRect">
            <a:avLst>
              <a:gd name="adj" fmla="val 5517"/>
            </a:avLst>
          </a:prstGeom>
          <a:solidFill>
            <a:srgbClr val="F3F5F7"/>
          </a:solidFill>
          <a:ln/>
        </p:spPr>
      </p:sp>
      <p:sp>
        <p:nvSpPr>
          <p:cNvPr id="4" name="Text 2"/>
          <p:cNvSpPr txBox="1"/>
          <p:nvPr/>
        </p:nvSpPr>
        <p:spPr>
          <a:xfrm>
            <a:off x="731520" y="1417320"/>
            <a:ext cx="1670243" cy="68580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51</a:t>
            </a:r>
            <a:endParaRPr lang="en-US" sz="3400" dirty="0"/>
          </a:p>
        </p:txBody>
      </p:sp>
      <p:sp>
        <p:nvSpPr>
          <p:cNvPr id="5" name="Text 3"/>
          <p:cNvSpPr txBox="1"/>
          <p:nvPr/>
        </p:nvSpPr>
        <p:spPr>
          <a:xfrm>
            <a:off x="731520" y="2121408"/>
            <a:ext cx="1670243" cy="411480"/>
          </a:xfrm>
          <a:prstGeom prst="rect">
            <a:avLst/>
          </a:prstGeom>
          <a:noFill/>
          <a:ln/>
        </p:spPr>
        <p:txBody>
          <a:bodyPr wrap="square" lIns="0" tIns="0" rIns="0" bIns="0" rtlCol="0" anchor="t"/>
          <a:lstStyle/>
          <a:p>
            <a:pPr indent="0" marL="0">
              <a:buNone/>
            </a:pPr>
            <a:r>
              <a:rPr lang="en-US" sz="1300" dirty="0">
                <a:solidFill>
                  <a:srgbClr val="1F2328"/>
                </a:solidFill>
                <a:latin typeface="Malgun Gothic" pitchFamily="34" charset="0"/>
                <a:ea typeface="Malgun Gothic" pitchFamily="34" charset="-122"/>
                <a:cs typeface="Malgun Gothic" pitchFamily="34" charset="-120"/>
              </a:rPr>
              <a:t>작업</a:t>
            </a:r>
            <a:endParaRPr lang="en-US" sz="1300" dirty="0"/>
          </a:p>
        </p:txBody>
      </p:sp>
      <p:sp>
        <p:nvSpPr>
          <p:cNvPr id="6" name="ops-1"/>
          <p:cNvSpPr/>
          <p:nvPr/>
        </p:nvSpPr>
        <p:spPr>
          <a:xfrm>
            <a:off x="2813243" y="1325880"/>
            <a:ext cx="2036003" cy="1325880"/>
          </a:xfrm>
          <a:prstGeom prst="roundRect">
            <a:avLst>
              <a:gd name="adj" fmla="val 5517"/>
            </a:avLst>
          </a:prstGeom>
          <a:solidFill>
            <a:srgbClr val="F3F5F7"/>
          </a:solidFill>
          <a:ln/>
        </p:spPr>
      </p:sp>
      <p:sp>
        <p:nvSpPr>
          <p:cNvPr id="7" name="Text 5"/>
          <p:cNvSpPr txBox="1"/>
          <p:nvPr/>
        </p:nvSpPr>
        <p:spPr>
          <a:xfrm>
            <a:off x="2996123" y="1417320"/>
            <a:ext cx="1670243" cy="68580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280</a:t>
            </a:r>
            <a:endParaRPr lang="en-US" sz="3400" dirty="0"/>
          </a:p>
        </p:txBody>
      </p:sp>
      <p:sp>
        <p:nvSpPr>
          <p:cNvPr id="8" name="Text 6"/>
          <p:cNvSpPr txBox="1"/>
          <p:nvPr/>
        </p:nvSpPr>
        <p:spPr>
          <a:xfrm>
            <a:off x="2996123" y="2121408"/>
            <a:ext cx="1670243" cy="411480"/>
          </a:xfrm>
          <a:prstGeom prst="rect">
            <a:avLst/>
          </a:prstGeom>
          <a:noFill/>
          <a:ln/>
        </p:spPr>
        <p:txBody>
          <a:bodyPr wrap="square" lIns="0" tIns="0" rIns="0" bIns="0" rtlCol="0" anchor="t"/>
          <a:lstStyle/>
          <a:p>
            <a:pPr indent="0" marL="0">
              <a:buNone/>
            </a:pPr>
            <a:r>
              <a:rPr lang="en-US" sz="1300" dirty="0">
                <a:solidFill>
                  <a:srgbClr val="1F2328"/>
                </a:solidFill>
                <a:latin typeface="Malgun Gothic" pitchFamily="34" charset="0"/>
                <a:ea typeface="Malgun Gothic" pitchFamily="34" charset="-122"/>
                <a:cs typeface="Malgun Gothic" pitchFamily="34" charset="-120"/>
              </a:rPr>
              <a:t>측정 가능한 완료 조건</a:t>
            </a:r>
            <a:endParaRPr lang="en-US" sz="1300" dirty="0"/>
          </a:p>
        </p:txBody>
      </p:sp>
      <p:sp>
        <p:nvSpPr>
          <p:cNvPr id="9" name="ops-2"/>
          <p:cNvSpPr/>
          <p:nvPr/>
        </p:nvSpPr>
        <p:spPr>
          <a:xfrm>
            <a:off x="5077846" y="1325880"/>
            <a:ext cx="2036003" cy="1325880"/>
          </a:xfrm>
          <a:prstGeom prst="roundRect">
            <a:avLst>
              <a:gd name="adj" fmla="val 5517"/>
            </a:avLst>
          </a:prstGeom>
          <a:solidFill>
            <a:srgbClr val="F3F5F7"/>
          </a:solidFill>
          <a:ln/>
        </p:spPr>
      </p:sp>
      <p:sp>
        <p:nvSpPr>
          <p:cNvPr id="10" name="Text 8"/>
          <p:cNvSpPr txBox="1"/>
          <p:nvPr/>
        </p:nvSpPr>
        <p:spPr>
          <a:xfrm>
            <a:off x="5260726" y="1417320"/>
            <a:ext cx="1670243" cy="68580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178</a:t>
            </a:r>
            <a:endParaRPr lang="en-US" sz="3400" dirty="0"/>
          </a:p>
        </p:txBody>
      </p:sp>
      <p:sp>
        <p:nvSpPr>
          <p:cNvPr id="11" name="Text 9"/>
          <p:cNvSpPr txBox="1"/>
          <p:nvPr/>
        </p:nvSpPr>
        <p:spPr>
          <a:xfrm>
            <a:off x="5260726" y="2121408"/>
            <a:ext cx="1670243" cy="411480"/>
          </a:xfrm>
          <a:prstGeom prst="rect">
            <a:avLst/>
          </a:prstGeom>
          <a:noFill/>
          <a:ln/>
        </p:spPr>
        <p:txBody>
          <a:bodyPr wrap="square" lIns="0" tIns="0" rIns="0" bIns="0" rtlCol="0" anchor="t"/>
          <a:lstStyle/>
          <a:p>
            <a:pPr indent="0" marL="0">
              <a:buNone/>
            </a:pPr>
            <a:r>
              <a:rPr lang="en-US" sz="1300" dirty="0">
                <a:solidFill>
                  <a:srgbClr val="1F2328"/>
                </a:solidFill>
                <a:latin typeface="Malgun Gothic" pitchFamily="34" charset="0"/>
                <a:ea typeface="Malgun Gothic" pitchFamily="34" charset="-122"/>
                <a:cs typeface="Malgun Gothic" pitchFamily="34" charset="-120"/>
              </a:rPr>
              <a:t>산출물 (파일 경로)</a:t>
            </a:r>
            <a:endParaRPr lang="en-US" sz="1300" dirty="0"/>
          </a:p>
        </p:txBody>
      </p:sp>
      <p:sp>
        <p:nvSpPr>
          <p:cNvPr id="12" name="ops-3"/>
          <p:cNvSpPr/>
          <p:nvPr/>
        </p:nvSpPr>
        <p:spPr>
          <a:xfrm>
            <a:off x="7342449" y="1325880"/>
            <a:ext cx="2036003" cy="1325880"/>
          </a:xfrm>
          <a:prstGeom prst="roundRect">
            <a:avLst>
              <a:gd name="adj" fmla="val 5517"/>
            </a:avLst>
          </a:prstGeom>
          <a:solidFill>
            <a:srgbClr val="F3F5F7"/>
          </a:solidFill>
          <a:ln/>
        </p:spPr>
      </p:sp>
      <p:sp>
        <p:nvSpPr>
          <p:cNvPr id="13" name="Text 11"/>
          <p:cNvSpPr txBox="1"/>
          <p:nvPr/>
        </p:nvSpPr>
        <p:spPr>
          <a:xfrm>
            <a:off x="7525329" y="1417320"/>
            <a:ext cx="1670243" cy="68580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28</a:t>
            </a:r>
            <a:endParaRPr lang="en-US" sz="3400" dirty="0"/>
          </a:p>
        </p:txBody>
      </p:sp>
      <p:sp>
        <p:nvSpPr>
          <p:cNvPr id="14" name="Text 12"/>
          <p:cNvSpPr txBox="1"/>
          <p:nvPr/>
        </p:nvSpPr>
        <p:spPr>
          <a:xfrm>
            <a:off x="7525329" y="2121408"/>
            <a:ext cx="1670243" cy="411480"/>
          </a:xfrm>
          <a:prstGeom prst="rect">
            <a:avLst/>
          </a:prstGeom>
          <a:noFill/>
          <a:ln/>
        </p:spPr>
        <p:txBody>
          <a:bodyPr wrap="square" lIns="0" tIns="0" rIns="0" bIns="0" rtlCol="0" anchor="t"/>
          <a:lstStyle/>
          <a:p>
            <a:pPr indent="0" marL="0">
              <a:buNone/>
            </a:pPr>
            <a:r>
              <a:rPr lang="en-US" sz="1300" dirty="0">
                <a:solidFill>
                  <a:srgbClr val="1F2328"/>
                </a:solidFill>
                <a:latin typeface="Malgun Gothic" pitchFamily="34" charset="0"/>
                <a:ea typeface="Malgun Gothic" pitchFamily="34" charset="-122"/>
                <a:cs typeface="Malgun Gothic" pitchFamily="34" charset="-120"/>
              </a:rPr>
              <a:t>설계 결정 기록</a:t>
            </a:r>
            <a:endParaRPr lang="en-US" sz="1300" dirty="0"/>
          </a:p>
        </p:txBody>
      </p:sp>
      <p:sp>
        <p:nvSpPr>
          <p:cNvPr id="15" name="ops-4"/>
          <p:cNvSpPr/>
          <p:nvPr/>
        </p:nvSpPr>
        <p:spPr>
          <a:xfrm>
            <a:off x="9607052" y="1325880"/>
            <a:ext cx="2036003" cy="1325880"/>
          </a:xfrm>
          <a:prstGeom prst="roundRect">
            <a:avLst>
              <a:gd name="adj" fmla="val 5517"/>
            </a:avLst>
          </a:prstGeom>
          <a:solidFill>
            <a:srgbClr val="F3F5F7"/>
          </a:solidFill>
          <a:ln/>
        </p:spPr>
      </p:sp>
      <p:sp>
        <p:nvSpPr>
          <p:cNvPr id="16" name="Text 14"/>
          <p:cNvSpPr txBox="1"/>
          <p:nvPr/>
        </p:nvSpPr>
        <p:spPr>
          <a:xfrm>
            <a:off x="9789932" y="1417320"/>
            <a:ext cx="1670243" cy="68580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6</a:t>
            </a:r>
            <a:endParaRPr lang="en-US" sz="3400" dirty="0"/>
          </a:p>
        </p:txBody>
      </p:sp>
      <p:sp>
        <p:nvSpPr>
          <p:cNvPr id="17" name="Text 15"/>
          <p:cNvSpPr txBox="1"/>
          <p:nvPr/>
        </p:nvSpPr>
        <p:spPr>
          <a:xfrm>
            <a:off x="9789932" y="2121408"/>
            <a:ext cx="1670243" cy="411480"/>
          </a:xfrm>
          <a:prstGeom prst="rect">
            <a:avLst/>
          </a:prstGeom>
          <a:noFill/>
          <a:ln/>
        </p:spPr>
        <p:txBody>
          <a:bodyPr wrap="square" lIns="0" tIns="0" rIns="0" bIns="0" rtlCol="0" anchor="t"/>
          <a:lstStyle/>
          <a:p>
            <a:pPr indent="0" marL="0">
              <a:buNone/>
            </a:pPr>
            <a:r>
              <a:rPr lang="en-US" sz="1300" dirty="0">
                <a:solidFill>
                  <a:srgbClr val="1F2328"/>
                </a:solidFill>
                <a:latin typeface="Malgun Gothic" pitchFamily="34" charset="0"/>
                <a:ea typeface="Malgun Gothic" pitchFamily="34" charset="-122"/>
                <a:cs typeface="Malgun Gothic" pitchFamily="34" charset="-120"/>
              </a:rPr>
              <a:t>되돌릴 수 없는 시점</a:t>
            </a:r>
            <a:endParaRPr lang="en-US" sz="1300" dirty="0"/>
          </a:p>
        </p:txBody>
      </p:sp>
      <p:sp>
        <p:nvSpPr>
          <p:cNvPr id="18" name="ban"/>
          <p:cNvSpPr/>
          <p:nvPr/>
        </p:nvSpPr>
        <p:spPr>
          <a:xfrm>
            <a:off x="548640" y="2880360"/>
            <a:ext cx="5364328" cy="2971800"/>
          </a:xfrm>
          <a:prstGeom prst="roundRect">
            <a:avLst>
              <a:gd name="adj" fmla="val 2462"/>
            </a:avLst>
          </a:prstGeom>
          <a:solidFill>
            <a:srgbClr val="F3F5F7"/>
          </a:solidFill>
          <a:ln/>
        </p:spPr>
      </p:sp>
      <p:sp>
        <p:nvSpPr>
          <p:cNvPr id="19" name="Text 17"/>
          <p:cNvSpPr txBox="1"/>
          <p:nvPr/>
        </p:nvSpPr>
        <p:spPr>
          <a:xfrm>
            <a:off x="822960" y="3063240"/>
            <a:ext cx="4815688" cy="365760"/>
          </a:xfrm>
          <a:prstGeom prst="rect">
            <a:avLst/>
          </a:prstGeom>
          <a:noFill/>
          <a:ln/>
        </p:spPr>
        <p:txBody>
          <a:bodyPr wrap="square" lIns="0" tIns="0" rIns="0" bIns="0" rtlCol="0" anchor="t"/>
          <a:lstStyle/>
          <a:p>
            <a:pPr indent="0" marL="0">
              <a:buNone/>
            </a:pPr>
            <a:r>
              <a:rPr lang="en-US" sz="1600" b="1" dirty="0">
                <a:solidFill>
                  <a:srgbClr val="D2551F"/>
                </a:solidFill>
                <a:latin typeface="Malgun Gothic" pitchFamily="34" charset="0"/>
                <a:ea typeface="Malgun Gothic" pitchFamily="34" charset="-122"/>
                <a:cs typeface="Malgun Gothic" pitchFamily="34" charset="-120"/>
              </a:rPr>
              <a:t>금지하고 바꿔 쓴 표현</a:t>
            </a:r>
            <a:endParaRPr lang="en-US" sz="1600" dirty="0"/>
          </a:p>
        </p:txBody>
      </p:sp>
      <p:sp>
        <p:nvSpPr>
          <p:cNvPr id="20" name="Text 18"/>
          <p:cNvSpPr txBox="1"/>
          <p:nvPr/>
        </p:nvSpPr>
        <p:spPr>
          <a:xfrm>
            <a:off x="822960" y="3520440"/>
            <a:ext cx="4815688" cy="2194560"/>
          </a:xfrm>
          <a:prstGeom prst="rect">
            <a:avLst/>
          </a:prstGeom>
          <a:noFill/>
          <a:ln/>
        </p:spPr>
        <p:txBody>
          <a:bodyPr wrap="square" lIns="0" tIns="0" rIns="0" bIns="0" rtlCol="0" anchor="t"/>
          <a:lstStyle/>
          <a:p>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“동작 확인”  →  “검출률 90% 이상”</a:t>
            </a:r>
            <a:endParaRPr lang="en-US" sz="1500" dirty="0"/>
          </a:p>
          <a:p>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“정상 작동”  →  “리플 50 mVpp 이하”</a:t>
            </a:r>
            <a:endParaRPr lang="en-US" sz="1500" dirty="0"/>
          </a:p>
          <a:p>
            <a:pPr indent="0" marL="0">
              <a:spcAft>
                <a:spcPts val="600"/>
              </a:spcAft>
              <a:buNone/>
            </a:pPr>
            <a:r>
              <a:rPr lang="en-US" sz="1500" dirty="0">
                <a:solidFill>
                  <a:srgbClr val="1F2328"/>
                </a:solidFill>
                <a:latin typeface="Malgun Gothic" pitchFamily="34" charset="0"/>
                <a:ea typeface="Malgun Gothic" pitchFamily="34" charset="-122"/>
                <a:cs typeface="Malgun Gothic" pitchFamily="34" charset="-120"/>
              </a:rPr>
              <a:t>“문제 없음”  →  “3회 반복 편차 5% 미만”</a:t>
            </a:r>
            <a:endParaRPr lang="en-US" sz="1500" dirty="0"/>
          </a:p>
          <a:p>
            <a:pPr indent="0" marL="0">
              <a:spcAft>
                <a:spcPts val="600"/>
              </a:spcAft>
              <a:buNone/>
            </a:pPr>
            <a:r>
              <a:rPr lang="en-US" sz="600" dirty="0">
                <a:solidFill>
                  <a:srgbClr val="1F2328"/>
                </a:solidFill>
                <a:latin typeface="Malgun Gothic" pitchFamily="34" charset="0"/>
                <a:ea typeface="Malgun Gothic" pitchFamily="34" charset="-122"/>
                <a:cs typeface="Malgun Gothic" pitchFamily="34" charset="-120"/>
              </a:rPr>
              <a:t> </a:t>
            </a:r>
            <a:endParaRPr lang="en-US" sz="1500" dirty="0"/>
          </a:p>
          <a:p>
            <a:pPr indent="0" marL="0">
              <a:spcAft>
                <a:spcPts val="600"/>
              </a:spcAft>
              <a:buNone/>
            </a:pPr>
            <a:r>
              <a:rPr lang="en-US" sz="1300" dirty="0">
                <a:solidFill>
                  <a:srgbClr val="5B6168"/>
                </a:solidFill>
                <a:latin typeface="Malgun Gothic" pitchFamily="34" charset="0"/>
                <a:ea typeface="Malgun Gothic" pitchFamily="34" charset="-122"/>
                <a:cs typeface="Malgun Gothic" pitchFamily="34" charset="-120"/>
              </a:rPr>
              <a:t>기준 미달이면 해당 설계 결정의 재검토 조건으로 이어지도록 완료 조건 본문에 적었다</a:t>
            </a:r>
            <a:endParaRPr lang="en-US" sz="1500" dirty="0"/>
          </a:p>
        </p:txBody>
      </p:sp>
      <p:sp>
        <p:nvSpPr>
          <p:cNvPr id="21" name="enforce"/>
          <p:cNvSpPr/>
          <p:nvPr/>
        </p:nvSpPr>
        <p:spPr>
          <a:xfrm>
            <a:off x="6278728" y="2880360"/>
            <a:ext cx="5364328" cy="2971800"/>
          </a:xfrm>
          <a:prstGeom prst="roundRect">
            <a:avLst>
              <a:gd name="adj" fmla="val 2462"/>
            </a:avLst>
          </a:prstGeom>
          <a:solidFill>
            <a:srgbClr val="E8F1FC"/>
          </a:solidFill>
          <a:ln/>
        </p:spPr>
      </p:sp>
      <p:sp>
        <p:nvSpPr>
          <p:cNvPr id="22" name="Text 20"/>
          <p:cNvSpPr txBox="1"/>
          <p:nvPr/>
        </p:nvSpPr>
        <p:spPr>
          <a:xfrm>
            <a:off x="6553048" y="3063240"/>
            <a:ext cx="4815688" cy="365760"/>
          </a:xfrm>
          <a:prstGeom prst="rect">
            <a:avLst/>
          </a:prstGeom>
          <a:noFill/>
          <a:ln/>
        </p:spPr>
        <p:txBody>
          <a:bodyPr wrap="square" lIns="0" tIns="0" rIns="0" bIns="0" rtlCol="0" anchor="t"/>
          <a:lstStyle/>
          <a:p>
            <a:pPr indent="0" marL="0">
              <a:buNone/>
            </a:pPr>
            <a:r>
              <a:rPr lang="en-US" sz="1600" b="1" dirty="0">
                <a:solidFill>
                  <a:srgbClr val="2A78D6"/>
                </a:solidFill>
                <a:latin typeface="Malgun Gothic" pitchFamily="34" charset="0"/>
                <a:ea typeface="Malgun Gothic" pitchFamily="34" charset="-122"/>
                <a:cs typeface="Malgun Gothic" pitchFamily="34" charset="-120"/>
              </a:rPr>
              <a:t>문장이 아니라 검사기로 강제</a:t>
            </a:r>
            <a:endParaRPr lang="en-US" sz="1600" dirty="0"/>
          </a:p>
        </p:txBody>
      </p:sp>
      <p:sp>
        <p:nvSpPr>
          <p:cNvPr id="23" name="Text 21"/>
          <p:cNvSpPr txBox="1"/>
          <p:nvPr/>
        </p:nvSpPr>
        <p:spPr>
          <a:xfrm>
            <a:off x="6553048" y="3520440"/>
            <a:ext cx="4815688"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운영 규격을 직접 쓰고 Claude 에 지시문으로 줬다</a:t>
            </a:r>
            <a:endParaRPr lang="en-US" sz="1400" dirty="0"/>
          </a:p>
          <a:p>
            <a:pPr marL="342900" indent="-342900">
              <a:spcAft>
                <a:spcPts val="6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나온 항목은 검사기로 받아들였다. 금지 표현, 작업 종류 이탈, 산출물 경로 형식, 선행 작업 번호를 기계로 확인</a:t>
            </a:r>
            <a:endParaRPr lang="en-US" sz="1400" dirty="0"/>
          </a:p>
          <a:p>
            <a:pPr marL="342900" indent="-342900">
              <a:spcAft>
                <a:spcPts val="6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설계 결정마다 결론, 근거, 대안, 재검토 조건</a:t>
            </a:r>
            <a:endParaRPr lang="en-US" sz="1400" dirty="0"/>
          </a:p>
          <a:p>
            <a:pPr marL="342900" indent="-342900">
              <a:spcAft>
                <a:spcPts val="600"/>
              </a:spcAft>
              <a:buSzPct val="100000"/>
              <a:buChar char="•"/>
            </a:pPr>
            <a:r>
              <a:rPr lang="en-US" sz="1400" dirty="0">
                <a:solidFill>
                  <a:srgbClr val="1F2328"/>
                </a:solidFill>
                <a:latin typeface="Malgun Gothic" pitchFamily="34" charset="0"/>
                <a:ea typeface="Malgun Gothic" pitchFamily="34" charset="-122"/>
                <a:cs typeface="Malgun Gothic" pitchFamily="34" charset="-120"/>
              </a:rPr>
              <a:t>Plane 과 GitHub 커밋에 작업 번호를 붙여 추적</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3부  노션 대신 문서 관리 화면을 직접 만든다</a:t>
            </a:r>
            <a:endParaRPr lang="en-US" sz="3000" dirty="0"/>
          </a:p>
        </p:txBody>
      </p:sp>
      <p:sp>
        <p:nvSpPr>
          <p:cNvPr id="3" name="badge-8"/>
          <p:cNvSpPr/>
          <p:nvPr/>
        </p:nvSpPr>
        <p:spPr>
          <a:xfrm>
            <a:off x="548640" y="1325880"/>
            <a:ext cx="411480" cy="411480"/>
          </a:xfrm>
          <a:prstGeom prst="ellipse">
            <a:avLst/>
          </a:prstGeom>
          <a:solidFill>
            <a:srgbClr val="D2551F"/>
          </a:solidFill>
          <a:ln/>
        </p:spPr>
      </p:sp>
      <p:sp>
        <p:nvSpPr>
          <p:cNvPr id="4" name="Text 2"/>
          <p:cNvSpPr txBox="1"/>
          <p:nvPr/>
        </p:nvSpPr>
        <p:spPr>
          <a:xfrm>
            <a:off x="548640" y="13258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5" name="Text 3"/>
          <p:cNvSpPr txBox="1"/>
          <p:nvPr/>
        </p:nvSpPr>
        <p:spPr>
          <a:xfrm>
            <a:off x="1143000" y="1344168"/>
            <a:ext cx="4892040" cy="365760"/>
          </a:xfrm>
          <a:prstGeom prst="rect">
            <a:avLst/>
          </a:prstGeom>
          <a:noFill/>
          <a:ln/>
        </p:spPr>
        <p:txBody>
          <a:bodyPr wrap="square" lIns="0" tIns="0" rIns="0" bIns="0" rtlCol="0" anchor="t"/>
          <a:lstStyle/>
          <a:p>
            <a:pPr indent="0" marL="0">
              <a:buNone/>
            </a:pPr>
            <a:r>
              <a:rPr lang="en-US" sz="1600" b="1" dirty="0">
                <a:solidFill>
                  <a:srgbClr val="D2551F"/>
                </a:solidFill>
                <a:latin typeface="Malgun Gothic" pitchFamily="34" charset="0"/>
                <a:ea typeface="Malgun Gothic" pitchFamily="34" charset="-122"/>
                <a:cs typeface="Malgun Gothic" pitchFamily="34" charset="-120"/>
              </a:rPr>
              <a:t>정해진 규격의 한계</a:t>
            </a:r>
            <a:endParaRPr lang="en-US" sz="1600" dirty="0"/>
          </a:p>
        </p:txBody>
      </p:sp>
      <p:sp>
        <p:nvSpPr>
          <p:cNvPr id="6" name="Text 4"/>
          <p:cNvSpPr txBox="1"/>
          <p:nvPr/>
        </p:nvSpPr>
        <p:spPr>
          <a:xfrm>
            <a:off x="1143000" y="1737360"/>
            <a:ext cx="4892040" cy="777240"/>
          </a:xfrm>
          <a:prstGeom prst="rect">
            <a:avLst/>
          </a:prstGeom>
          <a:noFill/>
          <a:ln/>
        </p:spPr>
        <p:txBody>
          <a:bodyPr wrap="square" lIns="0" tIns="0" rIns="0" bIns="0" rtlCol="0" anchor="t"/>
          <a:lstStyle/>
          <a:p>
            <a:pPr indent="0" marL="0">
              <a:buNone/>
            </a:pPr>
            <a:r>
              <a:rPr lang="en-US" sz="1250" dirty="0">
                <a:solidFill>
                  <a:srgbClr val="1F2328"/>
                </a:solidFill>
                <a:latin typeface="Malgun Gothic" pitchFamily="34" charset="0"/>
                <a:ea typeface="Malgun Gothic" pitchFamily="34" charset="-122"/>
                <a:cs typeface="Malgun Gothic" pitchFamily="34" charset="-120"/>
              </a:rPr>
              <a:t>노션은 블록과 데이터베이스가 정한 틀 안에서만 화면을 만든다. 넷리스트나 부품표 같은 프로젝트 파일에서 값을 읽어 오지 못해 옮겨 적었고, 원본이 바뀌면 어긋났다</a:t>
            </a:r>
            <a:endParaRPr lang="en-US" sz="1250" dirty="0"/>
          </a:p>
        </p:txBody>
      </p:sp>
      <p:sp>
        <p:nvSpPr>
          <p:cNvPr id="7" name="badge-9"/>
          <p:cNvSpPr/>
          <p:nvPr/>
        </p:nvSpPr>
        <p:spPr>
          <a:xfrm>
            <a:off x="548640" y="2542032"/>
            <a:ext cx="411480" cy="411480"/>
          </a:xfrm>
          <a:prstGeom prst="ellipse">
            <a:avLst/>
          </a:prstGeom>
          <a:solidFill>
            <a:srgbClr val="2A78D6"/>
          </a:solidFill>
          <a:ln/>
        </p:spPr>
      </p:sp>
      <p:sp>
        <p:nvSpPr>
          <p:cNvPr id="8" name="Text 6"/>
          <p:cNvSpPr txBox="1"/>
          <p:nvPr/>
        </p:nvSpPr>
        <p:spPr>
          <a:xfrm>
            <a:off x="548640" y="2542032"/>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9" name="Text 7"/>
          <p:cNvSpPr txBox="1"/>
          <p:nvPr/>
        </p:nvSpPr>
        <p:spPr>
          <a:xfrm>
            <a:off x="1143000" y="2560320"/>
            <a:ext cx="4892040" cy="365760"/>
          </a:xfrm>
          <a:prstGeom prst="rect">
            <a:avLst/>
          </a:prstGeom>
          <a:noFill/>
          <a:ln/>
        </p:spPr>
        <p:txBody>
          <a:bodyPr wrap="square" lIns="0" tIns="0" rIns="0" bIns="0" rtlCol="0" anchor="t"/>
          <a:lstStyle/>
          <a:p>
            <a:pPr indent="0" marL="0">
              <a:buNone/>
            </a:pPr>
            <a:r>
              <a:rPr lang="en-US" sz="1600" b="1" dirty="0">
                <a:solidFill>
                  <a:srgbClr val="2A78D6"/>
                </a:solidFill>
                <a:latin typeface="Malgun Gothic" pitchFamily="34" charset="0"/>
                <a:ea typeface="Malgun Gothic" pitchFamily="34" charset="-122"/>
                <a:cs typeface="Malgun Gothic" pitchFamily="34" charset="-120"/>
              </a:rPr>
              <a:t>일하는 순서에 맞춘 화면</a:t>
            </a:r>
            <a:endParaRPr lang="en-US" sz="1600" dirty="0"/>
          </a:p>
        </p:txBody>
      </p:sp>
      <p:sp>
        <p:nvSpPr>
          <p:cNvPr id="10" name="Text 8"/>
          <p:cNvSpPr txBox="1"/>
          <p:nvPr/>
        </p:nvSpPr>
        <p:spPr>
          <a:xfrm>
            <a:off x="1143000" y="2953512"/>
            <a:ext cx="4892040" cy="777240"/>
          </a:xfrm>
          <a:prstGeom prst="rect">
            <a:avLst/>
          </a:prstGeom>
          <a:noFill/>
          <a:ln/>
        </p:spPr>
        <p:txBody>
          <a:bodyPr wrap="square" lIns="0" tIns="0" rIns="0" bIns="0" rtlCol="0" anchor="t"/>
          <a:lstStyle/>
          <a:p>
            <a:pPr indent="0" marL="0">
              <a:buNone/>
            </a:pPr>
            <a:r>
              <a:rPr lang="en-US" sz="1250" dirty="0">
                <a:solidFill>
                  <a:srgbClr val="1F2328"/>
                </a:solidFill>
                <a:latin typeface="Malgun Gothic" pitchFamily="34" charset="0"/>
                <a:ea typeface="Malgun Gothic" pitchFamily="34" charset="-122"/>
                <a:cs typeface="Malgun Gothic" pitchFamily="34" charset="-120"/>
              </a:rPr>
              <a:t>직접 만든 화면이 가장 효율적이다. 홈에서 오늘과 내일 할 일을 보고, IDEC 페이지에서 회로도 장마다 들어갈 부품과 남은 풋프린트를 바로 찾는다</a:t>
            </a:r>
            <a:endParaRPr lang="en-US" sz="1250" dirty="0"/>
          </a:p>
        </p:txBody>
      </p:sp>
      <p:sp>
        <p:nvSpPr>
          <p:cNvPr id="11" name="badge-10"/>
          <p:cNvSpPr/>
          <p:nvPr/>
        </p:nvSpPr>
        <p:spPr>
          <a:xfrm>
            <a:off x="548640" y="3758184"/>
            <a:ext cx="411480" cy="411480"/>
          </a:xfrm>
          <a:prstGeom prst="ellipse">
            <a:avLst/>
          </a:prstGeom>
          <a:solidFill>
            <a:srgbClr val="2A78D6"/>
          </a:solidFill>
          <a:ln/>
        </p:spPr>
      </p:sp>
      <p:sp>
        <p:nvSpPr>
          <p:cNvPr id="12" name="Text 10"/>
          <p:cNvSpPr txBox="1"/>
          <p:nvPr/>
        </p:nvSpPr>
        <p:spPr>
          <a:xfrm>
            <a:off x="548640" y="3758184"/>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3" name="Text 11"/>
          <p:cNvSpPr txBox="1"/>
          <p:nvPr/>
        </p:nvSpPr>
        <p:spPr>
          <a:xfrm>
            <a:off x="1143000" y="3776472"/>
            <a:ext cx="4892040" cy="365760"/>
          </a:xfrm>
          <a:prstGeom prst="rect">
            <a:avLst/>
          </a:prstGeom>
          <a:noFill/>
          <a:ln/>
        </p:spPr>
        <p:txBody>
          <a:bodyPr wrap="square" lIns="0" tIns="0" rIns="0" bIns="0" rtlCol="0" anchor="t"/>
          <a:lstStyle/>
          <a:p>
            <a:pPr indent="0" marL="0">
              <a:buNone/>
            </a:pPr>
            <a:r>
              <a:rPr lang="en-US" sz="1600" b="1" dirty="0">
                <a:solidFill>
                  <a:srgbClr val="2A78D6"/>
                </a:solidFill>
                <a:latin typeface="Malgun Gothic" pitchFamily="34" charset="0"/>
                <a:ea typeface="Malgun Gothic" pitchFamily="34" charset="-122"/>
                <a:cs typeface="Malgun Gothic" pitchFamily="34" charset="-120"/>
              </a:rPr>
              <a:t>만드는 비용이 거의 사라졌다</a:t>
            </a:r>
            <a:endParaRPr lang="en-US" sz="1600" dirty="0"/>
          </a:p>
        </p:txBody>
      </p:sp>
      <p:sp>
        <p:nvSpPr>
          <p:cNvPr id="14" name="Text 12"/>
          <p:cNvSpPr txBox="1"/>
          <p:nvPr/>
        </p:nvSpPr>
        <p:spPr>
          <a:xfrm>
            <a:off x="1143000" y="4169664"/>
            <a:ext cx="4892040" cy="777240"/>
          </a:xfrm>
          <a:prstGeom prst="rect">
            <a:avLst/>
          </a:prstGeom>
          <a:noFill/>
          <a:ln/>
        </p:spPr>
        <p:txBody>
          <a:bodyPr wrap="square" lIns="0" tIns="0" rIns="0" bIns="0" rtlCol="0" anchor="t"/>
          <a:lstStyle/>
          <a:p>
            <a:pPr indent="0" marL="0">
              <a:buNone/>
            </a:pPr>
            <a:r>
              <a:rPr lang="en-US" sz="1250" dirty="0">
                <a:solidFill>
                  <a:srgbClr val="1F2328"/>
                </a:solidFill>
                <a:latin typeface="Malgun Gothic" pitchFamily="34" charset="0"/>
                <a:ea typeface="Malgun Gothic" pitchFamily="34" charset="-122"/>
                <a:cs typeface="Malgun Gothic" pitchFamily="34" charset="-120"/>
              </a:rPr>
              <a:t>2026.10.07 하루에 노션 일정 가져오기, 휴대폰 캘린더(.ics) 내보내기, IDEC 부품 대응표 페이지를 만들었다. 구조와 규칙은 내가 정하고 구현은 Claude 로 했다</a:t>
            </a:r>
            <a:endParaRPr lang="en-US" sz="1250" dirty="0"/>
          </a:p>
        </p:txBody>
      </p:sp>
      <p:sp>
        <p:nvSpPr>
          <p:cNvPr id="15" name="badge-11"/>
          <p:cNvSpPr/>
          <p:nvPr/>
        </p:nvSpPr>
        <p:spPr>
          <a:xfrm>
            <a:off x="548640" y="4974336"/>
            <a:ext cx="411480" cy="411480"/>
          </a:xfrm>
          <a:prstGeom prst="ellipse">
            <a:avLst/>
          </a:prstGeom>
          <a:solidFill>
            <a:srgbClr val="2A78D6"/>
          </a:solidFill>
          <a:ln/>
        </p:spPr>
      </p:sp>
      <p:sp>
        <p:nvSpPr>
          <p:cNvPr id="16" name="Text 14"/>
          <p:cNvSpPr txBox="1"/>
          <p:nvPr/>
        </p:nvSpPr>
        <p:spPr>
          <a:xfrm>
            <a:off x="548640" y="4974336"/>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17" name="Text 15"/>
          <p:cNvSpPr txBox="1"/>
          <p:nvPr/>
        </p:nvSpPr>
        <p:spPr>
          <a:xfrm>
            <a:off x="1143000" y="4992624"/>
            <a:ext cx="4892040" cy="365760"/>
          </a:xfrm>
          <a:prstGeom prst="rect">
            <a:avLst/>
          </a:prstGeom>
          <a:noFill/>
          <a:ln/>
        </p:spPr>
        <p:txBody>
          <a:bodyPr wrap="square" lIns="0" tIns="0" rIns="0" bIns="0" rtlCol="0" anchor="t"/>
          <a:lstStyle/>
          <a:p>
            <a:pPr indent="0" marL="0">
              <a:buNone/>
            </a:pPr>
            <a:r>
              <a:rPr lang="en-US" sz="1600" b="1" dirty="0">
                <a:solidFill>
                  <a:srgbClr val="2A78D6"/>
                </a:solidFill>
                <a:latin typeface="Malgun Gothic" pitchFamily="34" charset="0"/>
                <a:ea typeface="Malgun Gothic" pitchFamily="34" charset="-122"/>
                <a:cs typeface="Malgun Gothic" pitchFamily="34" charset="-120"/>
              </a:rPr>
              <a:t>내 PC 에서만 돈다</a:t>
            </a:r>
            <a:endParaRPr lang="en-US" sz="1600" dirty="0"/>
          </a:p>
        </p:txBody>
      </p:sp>
      <p:sp>
        <p:nvSpPr>
          <p:cNvPr id="18" name="Text 16"/>
          <p:cNvSpPr txBox="1"/>
          <p:nvPr/>
        </p:nvSpPr>
        <p:spPr>
          <a:xfrm>
            <a:off x="1143000" y="5385816"/>
            <a:ext cx="4892040" cy="777240"/>
          </a:xfrm>
          <a:prstGeom prst="rect">
            <a:avLst/>
          </a:prstGeom>
          <a:noFill/>
          <a:ln/>
        </p:spPr>
        <p:txBody>
          <a:bodyPr wrap="square" lIns="0" tIns="0" rIns="0" bIns="0" rtlCol="0" anchor="t"/>
          <a:lstStyle/>
          <a:p>
            <a:pPr indent="0" marL="0">
              <a:buNone/>
            </a:pPr>
            <a:r>
              <a:rPr lang="en-US" sz="1250" dirty="0">
                <a:solidFill>
                  <a:srgbClr val="1F2328"/>
                </a:solidFill>
                <a:latin typeface="Malgun Gothic" pitchFamily="34" charset="0"/>
                <a:ea typeface="Malgun Gothic" pitchFamily="34" charset="-122"/>
                <a:cs typeface="Malgun Gothic" pitchFamily="34" charset="-120"/>
              </a:rPr>
              <a:t>데이터는 로컬 파일이고 페이지는 외부로 요청을 보내지 않는다. 서버도 계정도 없다. 더블클릭하면 열린다</a:t>
            </a:r>
            <a:endParaRPr lang="en-US" sz="1250" dirty="0"/>
          </a:p>
        </p:txBody>
      </p:sp>
      <p:pic>
        <p:nvPicPr>
          <p:cNvPr id="19" name="Image 0" descr="직접 만든 캘린더 페이지. 수업 3과목과 IDEC 일정을 월 단위로 보여 준다">    </p:cNvPr>
          <p:cNvPicPr>
            <a:picLocks noChangeAspect="1"/>
          </p:cNvPicPr>
          <p:nvPr/>
        </p:nvPicPr>
        <p:blipFill>
          <a:blip r:embed="rId1"/>
          <a:stretch>
            <a:fillRect/>
          </a:stretch>
        </p:blipFill>
        <p:spPr>
          <a:xfrm>
            <a:off x="6355080" y="1371600"/>
            <a:ext cx="5287975" cy="2786640"/>
          </a:xfrm>
          <a:prstGeom prst="rect">
            <a:avLst/>
          </a:prstGeom>
        </p:spPr>
      </p:pic>
      <p:sp>
        <p:nvSpPr>
          <p:cNvPr id="20" name="Text 17"/>
          <p:cNvSpPr txBox="1"/>
          <p:nvPr/>
        </p:nvSpPr>
        <p:spPr>
          <a:xfrm>
            <a:off x="6355080" y="4231392"/>
            <a:ext cx="5287975" cy="27432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캘린더 페이지 (제출본). 수업 3과목과 IDEC 일정 61건</a:t>
            </a:r>
            <a:endParaRPr lang="en-US" sz="1100" dirty="0"/>
          </a:p>
        </p:txBody>
      </p:sp>
      <p:sp>
        <p:nvSpPr>
          <p:cNvPr id="21" name="docs-open"/>
          <p:cNvSpPr/>
          <p:nvPr/>
        </p:nvSpPr>
        <p:spPr>
          <a:xfrm>
            <a:off x="6355080" y="4892040"/>
            <a:ext cx="5287975" cy="1097280"/>
          </a:xfrm>
          <a:prstGeom prst="roundRect">
            <a:avLst>
              <a:gd name="adj" fmla="val 6667"/>
            </a:avLst>
          </a:prstGeom>
          <a:solidFill>
            <a:srgbClr val="F3F5F7"/>
          </a:solidFill>
          <a:ln/>
        </p:spPr>
      </p:sp>
      <p:sp>
        <p:nvSpPr>
          <p:cNvPr id="22" name="Text 19"/>
          <p:cNvSpPr txBox="1"/>
          <p:nvPr/>
        </p:nvSpPr>
        <p:spPr>
          <a:xfrm>
            <a:off x="6629400" y="5029200"/>
            <a:ext cx="4739335" cy="868680"/>
          </a:xfrm>
          <a:prstGeom prst="rect">
            <a:avLst/>
          </a:prstGeom>
          <a:noFill/>
          <a:ln/>
        </p:spPr>
        <p:txBody>
          <a:bodyPr wrap="square" lIns="0" tIns="0" rIns="0" bIns="0" rtlCol="0" anchor="t"/>
          <a:lstStyle/>
          <a:p>
            <a:pPr indent="0" marL="0">
              <a:buNone/>
            </a:pPr>
            <a:r>
              <a:rPr lang="en-US" sz="1300" b="1" dirty="0">
                <a:solidFill>
                  <a:srgbClr val="1F2328"/>
                </a:solidFill>
                <a:latin typeface="Consolas" pitchFamily="34" charset="0"/>
                <a:ea typeface="Consolas" pitchFamily="34" charset="-122"/>
                <a:cs typeface="Consolas" pitchFamily="34" charset="-120"/>
              </a:rPr>
              <a:t>03_local_docs/index.html</a:t>
            </a:r>
            <a:endParaRPr lang="en-US" sz="1300" dirty="0"/>
          </a:p>
          <a:p>
            <a:pPr indent="0" marL="0">
              <a:buNone/>
            </a:pPr>
            <a:r>
              <a:rPr lang="en-US" sz="1300" dirty="0">
                <a:solidFill>
                  <a:srgbClr val="1F2328"/>
                </a:solidFill>
                <a:latin typeface="Malgun Gothic" pitchFamily="34" charset="0"/>
                <a:ea typeface="Malgun Gothic" pitchFamily="34" charset="-122"/>
                <a:cs typeface="Malgun Gothic" pitchFamily="34" charset="-120"/>
              </a:rPr>
              <a:t>더블클릭하면 열린다. 홈, 캘린더, IDEC 세 페이지</a:t>
            </a:r>
            <a:endParaRPr lang="en-US" sz="1300" dirty="0"/>
          </a:p>
          <a:p>
            <a:pPr indent="0" marL="0">
              <a:buNone/>
            </a:pPr>
            <a:r>
              <a:rPr lang="en-US" sz="1300" dirty="0">
                <a:solidFill>
                  <a:srgbClr val="5B6168"/>
                </a:solidFill>
                <a:latin typeface="Malgun Gothic" pitchFamily="34" charset="0"/>
                <a:ea typeface="Malgun Gothic" pitchFamily="34" charset="-122"/>
                <a:cs typeface="Malgun Gothic" pitchFamily="34" charset="-120"/>
              </a:rPr>
              <a:t>내보낼 범위는 스크립트가 정한다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남은 한계와 LG디스플레이에서 쓰는 방법</a:t>
            </a:r>
            <a:endParaRPr lang="en-US" sz="3000" dirty="0"/>
          </a:p>
        </p:txBody>
      </p:sp>
      <p:sp>
        <p:nvSpPr>
          <p:cNvPr id="3" name="limits"/>
          <p:cNvSpPr/>
          <p:nvPr/>
        </p:nvSpPr>
        <p:spPr>
          <a:xfrm>
            <a:off x="548640" y="1417320"/>
            <a:ext cx="5364328" cy="3566160"/>
          </a:xfrm>
          <a:prstGeom prst="roundRect">
            <a:avLst>
              <a:gd name="adj" fmla="val 2051"/>
            </a:avLst>
          </a:prstGeom>
          <a:solidFill>
            <a:srgbClr val="F3F5F7"/>
          </a:solidFill>
          <a:ln/>
        </p:spPr>
      </p:sp>
      <p:sp>
        <p:nvSpPr>
          <p:cNvPr id="4" name="Text 2"/>
          <p:cNvSpPr txBox="1"/>
          <p:nvPr/>
        </p:nvSpPr>
        <p:spPr>
          <a:xfrm>
            <a:off x="868680" y="1645920"/>
            <a:ext cx="4724248" cy="411480"/>
          </a:xfrm>
          <a:prstGeom prst="rect">
            <a:avLst/>
          </a:prstGeom>
          <a:noFill/>
          <a:ln/>
        </p:spPr>
        <p:txBody>
          <a:bodyPr wrap="square" lIns="0" tIns="0" rIns="0" bIns="0" rtlCol="0" anchor="t"/>
          <a:lstStyle/>
          <a:p>
            <a:pPr indent="0" marL="0">
              <a:buNone/>
            </a:pPr>
            <a:r>
              <a:rPr lang="en-US" sz="1800" b="1" dirty="0">
                <a:solidFill>
                  <a:srgbClr val="D2551F"/>
                </a:solidFill>
                <a:latin typeface="Malgun Gothic" pitchFamily="34" charset="0"/>
                <a:ea typeface="Malgun Gothic" pitchFamily="34" charset="-122"/>
                <a:cs typeface="Malgun Gothic" pitchFamily="34" charset="-120"/>
              </a:rPr>
              <a:t>남은 한계</a:t>
            </a:r>
            <a:endParaRPr lang="en-US" sz="1800" dirty="0"/>
          </a:p>
        </p:txBody>
      </p:sp>
      <p:sp>
        <p:nvSpPr>
          <p:cNvPr id="5" name="Text 3"/>
          <p:cNvSpPr txBox="1"/>
          <p:nvPr/>
        </p:nvSpPr>
        <p:spPr>
          <a:xfrm>
            <a:off x="868680" y="2148840"/>
            <a:ext cx="4724248" cy="3657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CH334 한 권 모드의 정규식은 주변 부품과 패키지 코드도 품번으로 잡는다. 문서별 변종 규칙(확장)에서는 이 문제가 없다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TI 문서 1쪽 기능 목록의 요약 값을 놓친다 (확장 평가에서 근거 4건)</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핀 배치도와 회로도는 텍스트 추출로 순서가 깨진다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기준값은 38문항에서 정했다. 새 질문 유형에서 다시 확인해야 한다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회로도 극성 검사는 아직 자동화하지 못했다</a:t>
            </a:r>
            <a:endParaRPr lang="en-US" sz="1500" dirty="0"/>
          </a:p>
        </p:txBody>
      </p:sp>
      <p:sp>
        <p:nvSpPr>
          <p:cNvPr id="6" name="apply"/>
          <p:cNvSpPr/>
          <p:nvPr/>
        </p:nvSpPr>
        <p:spPr>
          <a:xfrm>
            <a:off x="6278728" y="1417320"/>
            <a:ext cx="5364328" cy="3566160"/>
          </a:xfrm>
          <a:prstGeom prst="roundRect">
            <a:avLst>
              <a:gd name="adj" fmla="val 2051"/>
            </a:avLst>
          </a:prstGeom>
          <a:solidFill>
            <a:srgbClr val="E8F1FC"/>
          </a:solidFill>
          <a:ln/>
        </p:spPr>
      </p:sp>
      <p:sp>
        <p:nvSpPr>
          <p:cNvPr id="7" name="Text 5"/>
          <p:cNvSpPr txBox="1"/>
          <p:nvPr/>
        </p:nvSpPr>
        <p:spPr>
          <a:xfrm>
            <a:off x="6598768" y="1645920"/>
            <a:ext cx="4724248" cy="411480"/>
          </a:xfrm>
          <a:prstGeom prst="rect">
            <a:avLst/>
          </a:prstGeom>
          <a:noFill/>
          <a:ln/>
        </p:spPr>
        <p:txBody>
          <a:bodyPr wrap="square" lIns="0" tIns="0" rIns="0" bIns="0" rtlCol="0" anchor="t"/>
          <a:lstStyle/>
          <a:p>
            <a:pPr indent="0" marL="0">
              <a:buNone/>
            </a:pPr>
            <a:r>
              <a:rPr lang="en-US" sz="1800" b="1" dirty="0">
                <a:solidFill>
                  <a:srgbClr val="2A78D6"/>
                </a:solidFill>
                <a:latin typeface="Malgun Gothic" pitchFamily="34" charset="0"/>
                <a:ea typeface="Malgun Gothic" pitchFamily="34" charset="-122"/>
                <a:cs typeface="Malgun Gothic" pitchFamily="34" charset="-120"/>
              </a:rPr>
              <a:t>회로 직무에서 쓰는 방법</a:t>
            </a:r>
            <a:endParaRPr lang="en-US" sz="1800" dirty="0"/>
          </a:p>
        </p:txBody>
      </p:sp>
      <p:sp>
        <p:nvSpPr>
          <p:cNvPr id="8" name="Text 6"/>
          <p:cNvSpPr txBox="1"/>
          <p:nvPr/>
        </p:nvSpPr>
        <p:spPr>
          <a:xfrm>
            <a:off x="6598768" y="2148840"/>
            <a:ext cx="4724248" cy="3657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변종과 리비전이 많은 부품 문서에서 적용 조건과 출처를 붙여 회로 사양을 찾는다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검증 자료를 정리할 때도 근거 페이지가 붙은 답만 설계 검토에 쓴다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회로도와 넷리스트처럼 기계로 읽을 수 있는 설계 자료는 통과 조건을 검사기로 만들어 AI 가 만든 변경을 받아들인다</a:t>
            </a:r>
            <a:endParaRPr lang="en-US" sz="1500" dirty="0"/>
          </a:p>
          <a:p>
            <a:pPr marL="342900" indent="-342900">
              <a:spcAft>
                <a:spcPts val="1000"/>
              </a:spcAft>
              <a:buSzPct val="100000"/>
              <a:buChar char="•"/>
            </a:pPr>
            <a:r>
              <a:rPr lang="en-US" sz="1500" dirty="0">
                <a:solidFill>
                  <a:srgbClr val="1F2328"/>
                </a:solidFill>
                <a:latin typeface="Malgun Gothic" pitchFamily="34" charset="0"/>
                <a:ea typeface="Malgun Gothic" pitchFamily="34" charset="-122"/>
                <a:cs typeface="Malgun Gothic" pitchFamily="34" charset="-120"/>
              </a:rPr>
              <a:t>모델이 바뀌어도 평가셋과 판정 기준은 남는다. 새 모델은 같은 평가셋에 올려 정확도, 토큰, 응답 시간으로 판단한다</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부록: 질문이 오면 펼치는 장</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822960"/>
                <a:gridCol w="5486400"/>
                <a:gridCol w="4785055"/>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쪽</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장</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이런 질문이 오면</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solidFill>
                      <a:srgbClr val="17202A"/>
                    </a:solidFill>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17</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다른 변종만 적힌 청크는 근거가 아니다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다른 변종 값이 섞이지 않는다는 것을 어떻게 보장하나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18</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평가 중에 찾은 순위 문제</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만들면서 찾은 문제는 무엇인가</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19</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답변도 근거 원문과 다시 맞춰 본다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모델의 답이 맞는지 어떻게 확인하나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다른 AI 에게 검토를 맡기고, 재현한 것만 고쳤다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AI 가 낸 검토 결과를 그대로 받아들였나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21</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시연 시나리오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시연에서 무엇을 보면 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22~23</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시연 화면 (2장)</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실행 화면을 보고 싶다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24</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시연 화면: 회로 기호로 물어도 그 부품 문서만 본다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회로 기호로 물어도 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25</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modulino 부품에 적용한 결과</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다른 부품에도 그대로 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26</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눈으로는 없는 것을 못 본다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검사기가 실제로 무엇을 잡았나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27</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되돌릴 수 없는 결정 전에 수치로 확인했다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되돌릴 수 없는 결정은 어떻게 내렸나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28</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규칙은 내가 정하고, 화면은 Claude 로 만들었다</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보안과 유지 관리는 어떻게 하나</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65760">
                <a:tc>
                  <a:txBody>
                    <a:bodyPr/>
                    <a:lstStyle/>
                    <a:p>
                      <a:pPr algn="ctr" indent="0" marL="0">
                        <a:buNone/>
                      </a:pPr>
                      <a:r>
                        <a:rPr lang="en-US" sz="1300" b="1" dirty="0">
                          <a:solidFill>
                            <a:srgbClr val="2A78D6"/>
                          </a:solidFill>
                          <a:latin typeface="Malgun Gothic" pitchFamily="34" charset="0"/>
                          <a:ea typeface="Malgun Gothic" pitchFamily="34" charset="-122"/>
                          <a:cs typeface="Malgun Gothic" pitchFamily="34" charset="-120"/>
                        </a:rPr>
                        <a:t>29</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부록: 실행 방법과 파일 구조</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직접 실행해 보려면</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다른 변종만 적힌 청크는 근거가 아니다</a:t>
            </a:r>
            <a:endParaRPr lang="en-US" sz="3000" dirty="0"/>
          </a:p>
        </p:txBody>
      </p:sp>
      <p:sp>
        <p:nvSpPr>
          <p:cNvPr id="3" name="rule-0"/>
          <p:cNvSpPr/>
          <p:nvPr/>
        </p:nvSpPr>
        <p:spPr>
          <a:xfrm>
            <a:off x="548640" y="1463040"/>
            <a:ext cx="6583680" cy="868680"/>
          </a:xfrm>
          <a:prstGeom prst="roundRect">
            <a:avLst>
              <a:gd name="adj" fmla="val 8421"/>
            </a:avLst>
          </a:prstGeom>
          <a:solidFill>
            <a:srgbClr val="F3F5F7"/>
          </a:solidFill>
          <a:ln/>
        </p:spPr>
      </p:sp>
      <p:sp>
        <p:nvSpPr>
          <p:cNvPr id="4" name="tag-0"/>
          <p:cNvSpPr/>
          <p:nvPr/>
        </p:nvSpPr>
        <p:spPr>
          <a:xfrm>
            <a:off x="777240" y="1691640"/>
            <a:ext cx="822960" cy="411480"/>
          </a:xfrm>
          <a:prstGeom prst="roundRect">
            <a:avLst>
              <a:gd name="adj" fmla="val 13333"/>
            </a:avLst>
          </a:prstGeom>
          <a:solidFill>
            <a:srgbClr val="2A78D6"/>
          </a:solidFill>
          <a:ln/>
        </p:spPr>
      </p:sp>
      <p:sp>
        <p:nvSpPr>
          <p:cNvPr id="5" name="Text 3"/>
          <p:cNvSpPr txBox="1"/>
          <p:nvPr/>
        </p:nvSpPr>
        <p:spPr>
          <a:xfrm>
            <a:off x="777240" y="1691640"/>
            <a:ext cx="8229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포함</a:t>
            </a:r>
            <a:endParaRPr lang="en-US" sz="1400" dirty="0"/>
          </a:p>
        </p:txBody>
      </p:sp>
      <p:sp>
        <p:nvSpPr>
          <p:cNvPr id="6" name="Text 4"/>
          <p:cNvSpPr txBox="1"/>
          <p:nvPr/>
        </p:nvSpPr>
        <p:spPr>
          <a:xfrm>
            <a:off x="1828800" y="1581912"/>
            <a:ext cx="5120640" cy="36576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질문한 품번을 명시한 청크</a:t>
            </a:r>
            <a:endParaRPr lang="en-US" sz="1600" dirty="0"/>
          </a:p>
        </p:txBody>
      </p:sp>
      <p:sp>
        <p:nvSpPr>
          <p:cNvPr id="7" name="Text 5"/>
          <p:cNvSpPr txBox="1"/>
          <p:nvPr/>
        </p:nvSpPr>
        <p:spPr>
          <a:xfrm>
            <a:off x="1828800" y="1938528"/>
            <a:ext cx="5120640" cy="3200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변종 특정 내용</a:t>
            </a:r>
            <a:endParaRPr lang="en-US" sz="1300" dirty="0"/>
          </a:p>
        </p:txBody>
      </p:sp>
      <p:sp>
        <p:nvSpPr>
          <p:cNvPr id="8" name="rule-1"/>
          <p:cNvSpPr/>
          <p:nvPr/>
        </p:nvSpPr>
        <p:spPr>
          <a:xfrm>
            <a:off x="548640" y="2487168"/>
            <a:ext cx="6583680" cy="868680"/>
          </a:xfrm>
          <a:prstGeom prst="roundRect">
            <a:avLst>
              <a:gd name="adj" fmla="val 8421"/>
            </a:avLst>
          </a:prstGeom>
          <a:solidFill>
            <a:srgbClr val="F3F5F7"/>
          </a:solidFill>
          <a:ln/>
        </p:spPr>
      </p:sp>
      <p:sp>
        <p:nvSpPr>
          <p:cNvPr id="9" name="tag-1"/>
          <p:cNvSpPr/>
          <p:nvPr/>
        </p:nvSpPr>
        <p:spPr>
          <a:xfrm>
            <a:off x="777240" y="2715768"/>
            <a:ext cx="822960" cy="411480"/>
          </a:xfrm>
          <a:prstGeom prst="roundRect">
            <a:avLst>
              <a:gd name="adj" fmla="val 13333"/>
            </a:avLst>
          </a:prstGeom>
          <a:solidFill>
            <a:srgbClr val="2A78D6"/>
          </a:solidFill>
          <a:ln/>
        </p:spPr>
      </p:sp>
      <p:sp>
        <p:nvSpPr>
          <p:cNvPr id="10" name="Text 8"/>
          <p:cNvSpPr txBox="1"/>
          <p:nvPr/>
        </p:nvSpPr>
        <p:spPr>
          <a:xfrm>
            <a:off x="777240" y="2715768"/>
            <a:ext cx="8229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포함</a:t>
            </a:r>
            <a:endParaRPr lang="en-US" sz="1400" dirty="0"/>
          </a:p>
        </p:txBody>
      </p:sp>
      <p:sp>
        <p:nvSpPr>
          <p:cNvPr id="11" name="Text 9"/>
          <p:cNvSpPr txBox="1"/>
          <p:nvPr/>
        </p:nvSpPr>
        <p:spPr>
          <a:xfrm>
            <a:off x="1828800" y="2606040"/>
            <a:ext cx="5120640" cy="36576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계열만 언급하고 변종을 특정하지 않은 청크</a:t>
            </a:r>
            <a:endParaRPr lang="en-US" sz="1600" dirty="0"/>
          </a:p>
        </p:txBody>
      </p:sp>
      <p:sp>
        <p:nvSpPr>
          <p:cNvPr id="12" name="Text 10"/>
          <p:cNvSpPr txBox="1"/>
          <p:nvPr/>
        </p:nvSpPr>
        <p:spPr>
          <a:xfrm>
            <a:off x="1828800" y="2962656"/>
            <a:ext cx="5120640" cy="3200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계열 공통 내용</a:t>
            </a:r>
            <a:endParaRPr lang="en-US" sz="1300" dirty="0"/>
          </a:p>
        </p:txBody>
      </p:sp>
      <p:sp>
        <p:nvSpPr>
          <p:cNvPr id="13" name="rule-2"/>
          <p:cNvSpPr/>
          <p:nvPr/>
        </p:nvSpPr>
        <p:spPr>
          <a:xfrm>
            <a:off x="548640" y="3511296"/>
            <a:ext cx="6583680" cy="868680"/>
          </a:xfrm>
          <a:prstGeom prst="roundRect">
            <a:avLst>
              <a:gd name="adj" fmla="val 8421"/>
            </a:avLst>
          </a:prstGeom>
          <a:solidFill>
            <a:srgbClr val="F3F5F7"/>
          </a:solidFill>
          <a:ln/>
        </p:spPr>
      </p:sp>
      <p:sp>
        <p:nvSpPr>
          <p:cNvPr id="14" name="tag-2"/>
          <p:cNvSpPr/>
          <p:nvPr/>
        </p:nvSpPr>
        <p:spPr>
          <a:xfrm>
            <a:off x="777240" y="3739896"/>
            <a:ext cx="822960" cy="411480"/>
          </a:xfrm>
          <a:prstGeom prst="roundRect">
            <a:avLst>
              <a:gd name="adj" fmla="val 13333"/>
            </a:avLst>
          </a:prstGeom>
          <a:solidFill>
            <a:srgbClr val="2A78D6"/>
          </a:solidFill>
          <a:ln/>
        </p:spPr>
      </p:sp>
      <p:sp>
        <p:nvSpPr>
          <p:cNvPr id="15" name="Text 13"/>
          <p:cNvSpPr txBox="1"/>
          <p:nvPr/>
        </p:nvSpPr>
        <p:spPr>
          <a:xfrm>
            <a:off x="777240" y="3739896"/>
            <a:ext cx="8229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포함</a:t>
            </a:r>
            <a:endParaRPr lang="en-US" sz="1400" dirty="0"/>
          </a:p>
        </p:txBody>
      </p:sp>
      <p:sp>
        <p:nvSpPr>
          <p:cNvPr id="16" name="Text 14"/>
          <p:cNvSpPr txBox="1"/>
          <p:nvPr/>
        </p:nvSpPr>
        <p:spPr>
          <a:xfrm>
            <a:off x="1828800" y="3630168"/>
            <a:ext cx="5120640" cy="36576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품번이 전혀 없는 청크</a:t>
            </a:r>
            <a:endParaRPr lang="en-US" sz="1600" dirty="0"/>
          </a:p>
        </p:txBody>
      </p:sp>
      <p:sp>
        <p:nvSpPr>
          <p:cNvPr id="17" name="Text 15"/>
          <p:cNvSpPr txBox="1"/>
          <p:nvPr/>
        </p:nvSpPr>
        <p:spPr>
          <a:xfrm>
            <a:off x="1828800" y="3986784"/>
            <a:ext cx="5120640" cy="3200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전기적 특성 표 같은 일반 설명</a:t>
            </a:r>
            <a:endParaRPr lang="en-US" sz="1300" dirty="0"/>
          </a:p>
        </p:txBody>
      </p:sp>
      <p:sp>
        <p:nvSpPr>
          <p:cNvPr id="18" name="rule-3"/>
          <p:cNvSpPr/>
          <p:nvPr/>
        </p:nvSpPr>
        <p:spPr>
          <a:xfrm>
            <a:off x="548640" y="4535424"/>
            <a:ext cx="6583680" cy="868680"/>
          </a:xfrm>
          <a:prstGeom prst="roundRect">
            <a:avLst>
              <a:gd name="adj" fmla="val 8421"/>
            </a:avLst>
          </a:prstGeom>
          <a:solidFill>
            <a:srgbClr val="F3F5F7"/>
          </a:solidFill>
          <a:ln/>
        </p:spPr>
      </p:sp>
      <p:sp>
        <p:nvSpPr>
          <p:cNvPr id="19" name="tag-3"/>
          <p:cNvSpPr/>
          <p:nvPr/>
        </p:nvSpPr>
        <p:spPr>
          <a:xfrm>
            <a:off x="777240" y="4764024"/>
            <a:ext cx="822960" cy="411480"/>
          </a:xfrm>
          <a:prstGeom prst="roundRect">
            <a:avLst>
              <a:gd name="adj" fmla="val 13333"/>
            </a:avLst>
          </a:prstGeom>
          <a:solidFill>
            <a:srgbClr val="D2551F"/>
          </a:solidFill>
          <a:ln/>
        </p:spPr>
      </p:sp>
      <p:sp>
        <p:nvSpPr>
          <p:cNvPr id="20" name="Text 18"/>
          <p:cNvSpPr txBox="1"/>
          <p:nvPr/>
        </p:nvSpPr>
        <p:spPr>
          <a:xfrm>
            <a:off x="777240" y="4764024"/>
            <a:ext cx="82296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제외</a:t>
            </a:r>
            <a:endParaRPr lang="en-US" sz="1400" dirty="0"/>
          </a:p>
        </p:txBody>
      </p:sp>
      <p:sp>
        <p:nvSpPr>
          <p:cNvPr id="21" name="Text 19"/>
          <p:cNvSpPr txBox="1"/>
          <p:nvPr/>
        </p:nvSpPr>
        <p:spPr>
          <a:xfrm>
            <a:off x="1828800" y="4654296"/>
            <a:ext cx="5120640" cy="36576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다른 변종만 명시한 청크</a:t>
            </a:r>
            <a:endParaRPr lang="en-US" sz="1600" dirty="0"/>
          </a:p>
        </p:txBody>
      </p:sp>
      <p:sp>
        <p:nvSpPr>
          <p:cNvPr id="22" name="Text 20"/>
          <p:cNvSpPr txBox="1"/>
          <p:nvPr/>
        </p:nvSpPr>
        <p:spPr>
          <a:xfrm>
            <a:off x="1828800" y="5010912"/>
            <a:ext cx="5120640" cy="3200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CH334U 질문에 CH334R 표</a:t>
            </a:r>
            <a:endParaRPr lang="en-US" sz="1300" dirty="0"/>
          </a:p>
        </p:txBody>
      </p:sp>
      <p:sp>
        <p:nvSpPr>
          <p:cNvPr id="23" name="gate-result"/>
          <p:cNvSpPr/>
          <p:nvPr/>
        </p:nvSpPr>
        <p:spPr>
          <a:xfrm>
            <a:off x="7498080" y="1463040"/>
            <a:ext cx="4144975" cy="3931920"/>
          </a:xfrm>
          <a:prstGeom prst="roundRect">
            <a:avLst>
              <a:gd name="adj" fmla="val 1860"/>
            </a:avLst>
          </a:prstGeom>
          <a:solidFill>
            <a:srgbClr val="E8F1FC"/>
          </a:solidFill>
          <a:ln/>
        </p:spPr>
      </p:sp>
      <p:sp>
        <p:nvSpPr>
          <p:cNvPr id="24" name="Text 22"/>
          <p:cNvSpPr txBox="1"/>
          <p:nvPr/>
        </p:nvSpPr>
        <p:spPr>
          <a:xfrm>
            <a:off x="7818120" y="1691640"/>
            <a:ext cx="3504895" cy="731520"/>
          </a:xfrm>
          <a:prstGeom prst="rect">
            <a:avLst/>
          </a:prstGeom>
          <a:noFill/>
          <a:ln/>
        </p:spPr>
        <p:txBody>
          <a:bodyPr wrap="square" lIns="0" tIns="0" rIns="0" bIns="0" rtlCol="0" anchor="t"/>
          <a:lstStyle/>
          <a:p>
            <a:pPr indent="0" marL="0">
              <a:buNone/>
            </a:pPr>
            <a:r>
              <a:rPr lang="en-US" sz="3400" b="1" dirty="0">
                <a:solidFill>
                  <a:srgbClr val="2A78D6"/>
                </a:solidFill>
                <a:latin typeface="Malgun Gothic" pitchFamily="34" charset="0"/>
                <a:ea typeface="Malgun Gothic" pitchFamily="34" charset="-122"/>
                <a:cs typeface="Malgun Gothic" pitchFamily="34" charset="-120"/>
              </a:rPr>
              <a:t>1,000건 중 0건</a:t>
            </a:r>
            <a:endParaRPr lang="en-US" sz="3400" dirty="0"/>
          </a:p>
        </p:txBody>
      </p:sp>
      <p:sp>
        <p:nvSpPr>
          <p:cNvPr id="25" name="Text 23"/>
          <p:cNvSpPr txBox="1"/>
          <p:nvPr/>
        </p:nvSpPr>
        <p:spPr>
          <a:xfrm>
            <a:off x="7818120" y="2423160"/>
            <a:ext cx="3504895" cy="68580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품번 13종별로 게이트를 통과한 청크를 모두 셌다. 그중 다른 변종 전용 청크가 통과한 경우</a:t>
            </a:r>
            <a:endParaRPr lang="en-US" sz="1300" dirty="0"/>
          </a:p>
        </p:txBody>
      </p:sp>
      <p:sp>
        <p:nvSpPr>
          <p:cNvPr id="26" name="Text 24"/>
          <p:cNvSpPr txBox="1"/>
          <p:nvPr/>
        </p:nvSpPr>
        <p:spPr>
          <a:xfrm>
            <a:off x="7818120" y="3246120"/>
            <a:ext cx="3504895" cy="201168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최악 조건 0건</a:t>
            </a:r>
            <a:endParaRPr lang="en-US" sz="1600" dirty="0"/>
          </a:p>
          <a:p>
            <a:pPr indent="0" marL="0">
              <a:buNone/>
            </a:pPr>
            <a:r>
              <a:rPr lang="en-US" sz="1300" dirty="0">
                <a:solidFill>
                  <a:srgbClr val="5B6168"/>
                </a:solidFill>
                <a:latin typeface="Malgun Gothic" pitchFamily="34" charset="0"/>
                <a:ea typeface="Malgun Gothic" pitchFamily="34" charset="-122"/>
                <a:cs typeface="Malgun Gothic" pitchFamily="34" charset="-120"/>
              </a:rPr>
              <a:t>다른 변종 청크를 검색 1위로 강제로 넣어도 걸러짐</a:t>
            </a:r>
            <a:endParaRPr lang="en-US" sz="1600" dirty="0"/>
          </a:p>
          <a:p>
            <a:pPr indent="0" marL="0">
              <a:buNone/>
            </a:pPr>
            <a:r>
              <a:rPr lang="en-US" sz="800" dirty="0">
                <a:solidFill>
                  <a:srgbClr val="1F2328"/>
                </a:solidFill>
                <a:latin typeface="Malgun Gothic" pitchFamily="34" charset="0"/>
                <a:ea typeface="Malgun Gothic" pitchFamily="34" charset="-122"/>
                <a:cs typeface="Malgun Gothic" pitchFamily="34" charset="-120"/>
              </a:rPr>
              <a:t> </a:t>
            </a:r>
            <a:endParaRPr lang="en-US" sz="1600" dirty="0"/>
          </a:p>
          <a:p>
            <a:pPr indent="0" marL="0">
              <a:buNone/>
            </a:pPr>
            <a:r>
              <a:rPr lang="en-US" sz="1600" b="1" dirty="0">
                <a:solidFill>
                  <a:srgbClr val="1F2328"/>
                </a:solidFill>
                <a:latin typeface="Malgun Gothic" pitchFamily="34" charset="0"/>
                <a:ea typeface="Malgun Gothic" pitchFamily="34" charset="-122"/>
                <a:cs typeface="Malgun Gothic" pitchFamily="34" charset="-120"/>
              </a:rPr>
              <a:t>CH999Z 질의는 빈 결과</a:t>
            </a:r>
            <a:endParaRPr lang="en-US" sz="1600" dirty="0"/>
          </a:p>
          <a:p>
            <a:pPr indent="0" marL="0">
              <a:buNone/>
            </a:pPr>
            <a:r>
              <a:rPr lang="en-US" sz="1300" dirty="0">
                <a:solidFill>
                  <a:srgbClr val="5B6168"/>
                </a:solidFill>
                <a:latin typeface="Malgun Gothic" pitchFamily="34" charset="0"/>
                <a:ea typeface="Malgun Gothic" pitchFamily="34" charset="-122"/>
                <a:cs typeface="Malgun Gothic" pitchFamily="34" charset="-120"/>
              </a:rPr>
              <a:t>문서에 없는 품번이면 답을 만들지 않음</a:t>
            </a:r>
            <a:endParaRPr lang="en-US" sz="1600" dirty="0"/>
          </a:p>
        </p:txBody>
      </p:sp>
      <p:sp>
        <p:nvSpPr>
          <p:cNvPr id="27" name="Text 25"/>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임베딩 토크나이저는 CH334U 를 [CH][334][U] 로 쪼개 CH334R 과 3토큰 중 1개만 다르게 본다. 그래서 품번형 토큰은 문자 n-gram 으로 따로 색인한다.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평가 중에 찾은 순위 문제</a:t>
            </a:r>
            <a:endParaRPr lang="en-US" sz="30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질문  “CH334U 동작 전압”   답은 p.21 전기적 특성 표에 있고, 그 표에는 품번이 적혀 있지 않다</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2926080"/>
                <a:gridCol w="6309360"/>
                <a:gridCol w="1858975"/>
              </a:tblGrid>
              <a:tr h="502920">
                <a:tc>
                  <a:txBody>
                    <a:bodyPr/>
                    <a:lstStyle/>
                    <a:p>
                      <a:pPr indent="0" marL="0">
                        <a:buNone/>
                      </a:pP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상위 5개 근거 페이지</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p.21 포함</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50292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품번을 질의에 넣은 순위</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p.14, p.3, p.15, p.9, p.4  (핀 표, LED 응용)</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b="1" dirty="0">
                          <a:solidFill>
                            <a:srgbClr val="D2551F"/>
                          </a:solidFill>
                          <a:latin typeface="Malgun Gothic" pitchFamily="34" charset="0"/>
                          <a:ea typeface="Malgun Gothic" pitchFamily="34" charset="-122"/>
                          <a:cs typeface="Malgun Gothic" pitchFamily="34" charset="-120"/>
                        </a:rPr>
                        <a:t>없음</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02920">
                <a:tc>
                  <a:txBody>
                    <a:bodyPr/>
                    <a:lstStyle/>
                    <a:p>
                      <a:pPr indent="0" marL="0">
                        <a:buNone/>
                      </a:pPr>
                      <a:r>
                        <a:rPr lang="en-US" sz="1500" b="1" dirty="0">
                          <a:solidFill>
                            <a:srgbClr val="000000"/>
                          </a:solidFill>
                          <a:latin typeface="Malgun Gothic" pitchFamily="34" charset="0"/>
                          <a:ea typeface="Malgun Gothic" pitchFamily="34" charset="-122"/>
                          <a:cs typeface="Malgun Gothic" pitchFamily="34" charset="-120"/>
                        </a:rPr>
                        <a:t>품번을 뺀 순위</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dirty="0">
                          <a:solidFill>
                            <a:srgbClr val="000000"/>
                          </a:solidFill>
                          <a:latin typeface="Malgun Gothic" pitchFamily="34" charset="0"/>
                          <a:ea typeface="Malgun Gothic" pitchFamily="34" charset="-122"/>
                          <a:cs typeface="Malgun Gothic" pitchFamily="34" charset="-120"/>
                        </a:rPr>
                        <a:t>p.21, p.21, p.12, p.1  + 품번 명시 근거 p.14</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500" b="1" dirty="0">
                          <a:solidFill>
                            <a:srgbClr val="2A78D6"/>
                          </a:solidFill>
                          <a:latin typeface="Malgun Gothic" pitchFamily="34" charset="0"/>
                          <a:ea typeface="Malgun Gothic" pitchFamily="34" charset="-122"/>
                          <a:cs typeface="Malgun Gothic" pitchFamily="34" charset="-120"/>
                        </a:rPr>
                        <a:t>1, 2위</a:t>
                      </a:r>
                      <a:endParaRPr lang="en-US" sz="1500" dirty="0">
                        <a:latin typeface="Malgun Gothic" charset="0"/>
                        <a:ea typeface="Malgun Gothic" charset="0"/>
                        <a:cs typeface="Malgun Gothic" charset="0"/>
                      </a:endParaRPr>
                    </a:p>
                  </a:txBody>
                  <a:tcPr marL="137160" marR="137160"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5" name="cause"/>
          <p:cNvSpPr/>
          <p:nvPr/>
        </p:nvSpPr>
        <p:spPr>
          <a:xfrm>
            <a:off x="548640" y="3886200"/>
            <a:ext cx="5364328" cy="1554480"/>
          </a:xfrm>
          <a:prstGeom prst="roundRect">
            <a:avLst>
              <a:gd name="adj" fmla="val 4706"/>
            </a:avLst>
          </a:prstGeom>
          <a:solidFill>
            <a:srgbClr val="F3F5F7"/>
          </a:solidFill>
          <a:ln/>
        </p:spPr>
      </p:sp>
      <p:sp>
        <p:nvSpPr>
          <p:cNvPr id="6" name="Text 3"/>
          <p:cNvSpPr txBox="1"/>
          <p:nvPr/>
        </p:nvSpPr>
        <p:spPr>
          <a:xfrm>
            <a:off x="822960" y="4069080"/>
            <a:ext cx="4815688" cy="365760"/>
          </a:xfrm>
          <a:prstGeom prst="rect">
            <a:avLst/>
          </a:prstGeom>
          <a:noFill/>
          <a:ln/>
        </p:spPr>
        <p:txBody>
          <a:bodyPr wrap="square" lIns="0" tIns="0" rIns="0" bIns="0" rtlCol="0" anchor="t"/>
          <a:lstStyle/>
          <a:p>
            <a:pPr indent="0" marL="0">
              <a:buNone/>
            </a:pPr>
            <a:r>
              <a:rPr lang="en-US" sz="1600" b="1" dirty="0">
                <a:solidFill>
                  <a:srgbClr val="D2551F"/>
                </a:solidFill>
                <a:latin typeface="Malgun Gothic" pitchFamily="34" charset="0"/>
                <a:ea typeface="Malgun Gothic" pitchFamily="34" charset="-122"/>
                <a:cs typeface="Malgun Gothic" pitchFamily="34" charset="-120"/>
              </a:rPr>
              <a:t>원인</a:t>
            </a:r>
            <a:endParaRPr lang="en-US" sz="1600" dirty="0"/>
          </a:p>
        </p:txBody>
      </p:sp>
      <p:sp>
        <p:nvSpPr>
          <p:cNvPr id="7" name="Text 4"/>
          <p:cNvSpPr txBox="1"/>
          <p:nvPr/>
        </p:nvSpPr>
        <p:spPr>
          <a:xfrm>
            <a:off x="822960" y="4480560"/>
            <a:ext cx="4815688" cy="128016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품번 n-gram 이 BM25 점수를 크게 끌어올려, 품번을 적은 핀 표가 묻는 내용과 상관없이 상위를 차지했다.</a:t>
            </a:r>
            <a:endParaRPr lang="en-US" sz="1500" dirty="0"/>
          </a:p>
        </p:txBody>
      </p:sp>
      <p:sp>
        <p:nvSpPr>
          <p:cNvPr id="8" name="fix"/>
          <p:cNvSpPr/>
          <p:nvPr/>
        </p:nvSpPr>
        <p:spPr>
          <a:xfrm>
            <a:off x="6278728" y="3886200"/>
            <a:ext cx="5364328" cy="1554480"/>
          </a:xfrm>
          <a:prstGeom prst="roundRect">
            <a:avLst>
              <a:gd name="adj" fmla="val 4706"/>
            </a:avLst>
          </a:prstGeom>
          <a:solidFill>
            <a:srgbClr val="F3F5F7"/>
          </a:solidFill>
          <a:ln/>
        </p:spPr>
      </p:sp>
      <p:sp>
        <p:nvSpPr>
          <p:cNvPr id="9" name="Text 6"/>
          <p:cNvSpPr txBox="1"/>
          <p:nvPr/>
        </p:nvSpPr>
        <p:spPr>
          <a:xfrm>
            <a:off x="6553048" y="4069080"/>
            <a:ext cx="4815688" cy="365760"/>
          </a:xfrm>
          <a:prstGeom prst="rect">
            <a:avLst/>
          </a:prstGeom>
          <a:noFill/>
          <a:ln/>
        </p:spPr>
        <p:txBody>
          <a:bodyPr wrap="square" lIns="0" tIns="0" rIns="0" bIns="0" rtlCol="0" anchor="t"/>
          <a:lstStyle/>
          <a:p>
            <a:pPr indent="0" marL="0">
              <a:buNone/>
            </a:pPr>
            <a:r>
              <a:rPr lang="en-US" sz="1600" b="1" dirty="0">
                <a:solidFill>
                  <a:srgbClr val="2A78D6"/>
                </a:solidFill>
                <a:latin typeface="Malgun Gothic" pitchFamily="34" charset="0"/>
                <a:ea typeface="Malgun Gothic" pitchFamily="34" charset="-122"/>
                <a:cs typeface="Malgun Gothic" pitchFamily="34" charset="-120"/>
              </a:rPr>
              <a:t>수정</a:t>
            </a:r>
            <a:endParaRPr lang="en-US" sz="1600" dirty="0"/>
          </a:p>
        </p:txBody>
      </p:sp>
      <p:sp>
        <p:nvSpPr>
          <p:cNvPr id="10" name="Text 7"/>
          <p:cNvSpPr txBox="1"/>
          <p:nvPr/>
        </p:nvSpPr>
        <p:spPr>
          <a:xfrm>
            <a:off x="6553048" y="4480560"/>
            <a:ext cx="4815688" cy="128016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어느 품번의 근거인지는 게이트가 보고, 순위는 내용으로 매긴다. 품번을 명시한 근거 하나는 항상 남긴다.</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답변도 근거 원문과 다시 맞춰 본다</a:t>
            </a:r>
            <a:endParaRPr lang="en-US" sz="3000" dirty="0"/>
          </a:p>
        </p:txBody>
      </p:sp>
      <p:sp>
        <p:nvSpPr>
          <p:cNvPr id="3" name="check-0"/>
          <p:cNvSpPr/>
          <p:nvPr/>
        </p:nvSpPr>
        <p:spPr>
          <a:xfrm>
            <a:off x="548640" y="1463040"/>
            <a:ext cx="3515258" cy="2468880"/>
          </a:xfrm>
          <a:prstGeom prst="roundRect">
            <a:avLst>
              <a:gd name="adj" fmla="val 2963"/>
            </a:avLst>
          </a:prstGeom>
          <a:solidFill>
            <a:srgbClr val="F3F5F7"/>
          </a:solidFill>
          <a:ln/>
        </p:spPr>
      </p:sp>
      <p:sp>
        <p:nvSpPr>
          <p:cNvPr id="4" name="badge-12"/>
          <p:cNvSpPr/>
          <p:nvPr/>
        </p:nvSpPr>
        <p:spPr>
          <a:xfrm>
            <a:off x="822960" y="1691640"/>
            <a:ext cx="457200" cy="457200"/>
          </a:xfrm>
          <a:prstGeom prst="ellipse">
            <a:avLst/>
          </a:prstGeom>
          <a:solidFill>
            <a:srgbClr val="2A78D6"/>
          </a:solidFill>
          <a:ln/>
        </p:spPr>
      </p:sp>
      <p:sp>
        <p:nvSpPr>
          <p:cNvPr id="5" name="Text 3"/>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6" name="Text 4"/>
          <p:cNvSpPr txBox="1"/>
          <p:nvPr/>
        </p:nvSpPr>
        <p:spPr>
          <a:xfrm>
            <a:off x="1417320" y="1737360"/>
            <a:ext cx="241797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인용 검사</a:t>
            </a:r>
            <a:endParaRPr lang="en-US" sz="1800" dirty="0"/>
          </a:p>
        </p:txBody>
      </p:sp>
      <p:sp>
        <p:nvSpPr>
          <p:cNvPr id="7" name="Text 5"/>
          <p:cNvSpPr txBox="1"/>
          <p:nvPr/>
        </p:nvSpPr>
        <p:spPr>
          <a:xfrm>
            <a:off x="822960" y="2377440"/>
            <a:ext cx="2966618" cy="82296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답변의 [p.N] 이 실제로 넘긴 근거 페이지인가</a:t>
            </a:r>
            <a:endParaRPr lang="en-US" sz="1500" dirty="0"/>
          </a:p>
        </p:txBody>
      </p:sp>
      <p:sp>
        <p:nvSpPr>
          <p:cNvPr id="8" name="Text 6"/>
          <p:cNvSpPr txBox="1"/>
          <p:nvPr/>
        </p:nvSpPr>
        <p:spPr>
          <a:xfrm>
            <a:off x="822960" y="3246120"/>
            <a:ext cx="2966618" cy="5486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근거 밖 페이지를 인용하면 실패</a:t>
            </a:r>
            <a:endParaRPr lang="en-US" sz="1300" dirty="0"/>
          </a:p>
        </p:txBody>
      </p:sp>
      <p:sp>
        <p:nvSpPr>
          <p:cNvPr id="9" name="check-1"/>
          <p:cNvSpPr/>
          <p:nvPr/>
        </p:nvSpPr>
        <p:spPr>
          <a:xfrm>
            <a:off x="4338218" y="1463040"/>
            <a:ext cx="3515258" cy="2468880"/>
          </a:xfrm>
          <a:prstGeom prst="roundRect">
            <a:avLst>
              <a:gd name="adj" fmla="val 2963"/>
            </a:avLst>
          </a:prstGeom>
          <a:solidFill>
            <a:srgbClr val="F3F5F7"/>
          </a:solidFill>
          <a:ln/>
        </p:spPr>
      </p:sp>
      <p:sp>
        <p:nvSpPr>
          <p:cNvPr id="10" name="badge-13"/>
          <p:cNvSpPr/>
          <p:nvPr/>
        </p:nvSpPr>
        <p:spPr>
          <a:xfrm>
            <a:off x="4612538" y="1691640"/>
            <a:ext cx="457200" cy="457200"/>
          </a:xfrm>
          <a:prstGeom prst="ellipse">
            <a:avLst/>
          </a:prstGeom>
          <a:solidFill>
            <a:srgbClr val="2A78D6"/>
          </a:solidFill>
          <a:ln/>
        </p:spPr>
      </p:sp>
      <p:sp>
        <p:nvSpPr>
          <p:cNvPr id="11" name="Text 9"/>
          <p:cNvSpPr txBox="1"/>
          <p:nvPr/>
        </p:nvSpPr>
        <p:spPr>
          <a:xfrm>
            <a:off x="4612538"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2" name="Text 10"/>
          <p:cNvSpPr txBox="1"/>
          <p:nvPr/>
        </p:nvSpPr>
        <p:spPr>
          <a:xfrm>
            <a:off x="5206898" y="1737360"/>
            <a:ext cx="241797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수치 검사</a:t>
            </a:r>
            <a:endParaRPr lang="en-US" sz="1800" dirty="0"/>
          </a:p>
        </p:txBody>
      </p:sp>
      <p:sp>
        <p:nvSpPr>
          <p:cNvPr id="13" name="Text 11"/>
          <p:cNvSpPr txBox="1"/>
          <p:nvPr/>
        </p:nvSpPr>
        <p:spPr>
          <a:xfrm>
            <a:off x="4612538" y="2377440"/>
            <a:ext cx="2966618" cy="82296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단위가 붙은 수치가 근거 원문에 있는가</a:t>
            </a:r>
            <a:endParaRPr lang="en-US" sz="1500" dirty="0"/>
          </a:p>
        </p:txBody>
      </p:sp>
      <p:sp>
        <p:nvSpPr>
          <p:cNvPr id="14" name="Text 12"/>
          <p:cNvSpPr txBox="1"/>
          <p:nvPr/>
        </p:nvSpPr>
        <p:spPr>
          <a:xfrm>
            <a:off x="4612538" y="3246120"/>
            <a:ext cx="2966618" cy="5486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1.8V 처럼 원문에 없는 수치면 실패</a:t>
            </a:r>
            <a:endParaRPr lang="en-US" sz="1300" dirty="0"/>
          </a:p>
        </p:txBody>
      </p:sp>
      <p:sp>
        <p:nvSpPr>
          <p:cNvPr id="15" name="check-2"/>
          <p:cNvSpPr/>
          <p:nvPr/>
        </p:nvSpPr>
        <p:spPr>
          <a:xfrm>
            <a:off x="8127797" y="1463040"/>
            <a:ext cx="3515258" cy="2468880"/>
          </a:xfrm>
          <a:prstGeom prst="roundRect">
            <a:avLst>
              <a:gd name="adj" fmla="val 2963"/>
            </a:avLst>
          </a:prstGeom>
          <a:solidFill>
            <a:srgbClr val="F3F5F7"/>
          </a:solidFill>
          <a:ln/>
        </p:spPr>
      </p:sp>
      <p:sp>
        <p:nvSpPr>
          <p:cNvPr id="16" name="badge-14"/>
          <p:cNvSpPr/>
          <p:nvPr/>
        </p:nvSpPr>
        <p:spPr>
          <a:xfrm>
            <a:off x="8402117" y="1691640"/>
            <a:ext cx="457200" cy="457200"/>
          </a:xfrm>
          <a:prstGeom prst="ellipse">
            <a:avLst/>
          </a:prstGeom>
          <a:solidFill>
            <a:srgbClr val="2A78D6"/>
          </a:solidFill>
          <a:ln/>
        </p:spPr>
      </p:sp>
      <p:sp>
        <p:nvSpPr>
          <p:cNvPr id="17" name="Text 15"/>
          <p:cNvSpPr txBox="1"/>
          <p:nvPr/>
        </p:nvSpPr>
        <p:spPr>
          <a:xfrm>
            <a:off x="8402117"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8" name="Text 16"/>
          <p:cNvSpPr txBox="1"/>
          <p:nvPr/>
        </p:nvSpPr>
        <p:spPr>
          <a:xfrm>
            <a:off x="8996477" y="1737360"/>
            <a:ext cx="241797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거절 검사</a:t>
            </a:r>
            <a:endParaRPr lang="en-US" sz="1800" dirty="0"/>
          </a:p>
        </p:txBody>
      </p:sp>
      <p:sp>
        <p:nvSpPr>
          <p:cNvPr id="19" name="Text 17"/>
          <p:cNvSpPr txBox="1"/>
          <p:nvPr/>
        </p:nvSpPr>
        <p:spPr>
          <a:xfrm>
            <a:off x="8402117" y="2377440"/>
            <a:ext cx="2966618" cy="82296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문서에 없는 질문에 정해진 거절 문장으로 답했는가</a:t>
            </a:r>
            <a:endParaRPr lang="en-US" sz="1500" dirty="0"/>
          </a:p>
        </p:txBody>
      </p:sp>
      <p:sp>
        <p:nvSpPr>
          <p:cNvPr id="20" name="Text 18"/>
          <p:cNvSpPr txBox="1"/>
          <p:nvPr/>
        </p:nvSpPr>
        <p:spPr>
          <a:xfrm>
            <a:off x="8402117" y="3246120"/>
            <a:ext cx="2966618" cy="54864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답을 만들어 내면 실패</a:t>
            </a:r>
            <a:endParaRPr lang="en-US" sz="1300" dirty="0"/>
          </a:p>
        </p:txBody>
      </p:sp>
      <p:sp>
        <p:nvSpPr>
          <p:cNvPr id="21" name="Text 19"/>
          <p:cNvSpPr txBox="1"/>
          <p:nvPr/>
        </p:nvSpPr>
        <p:spPr>
          <a:xfrm>
            <a:off x="548640" y="4251960"/>
            <a:ext cx="11094415" cy="457200"/>
          </a:xfrm>
          <a:prstGeom prst="rect">
            <a:avLst/>
          </a:prstGeom>
          <a:noFill/>
          <a:ln/>
        </p:spPr>
        <p:txBody>
          <a:bodyPr wrap="square" lIns="0" tIns="0" rIns="0" bIns="0" rtlCol="0" anchor="t"/>
          <a:lstStyle/>
          <a:p>
            <a:pPr indent="0" marL="0">
              <a:buNone/>
            </a:pPr>
            <a:r>
              <a:rPr lang="en-US" sz="1600" b="1" dirty="0">
                <a:solidFill>
                  <a:srgbClr val="1F2328"/>
                </a:solidFill>
                <a:latin typeface="Malgun Gothic" pitchFamily="34" charset="0"/>
                <a:ea typeface="Malgun Gothic" pitchFamily="34" charset="-122"/>
                <a:cs typeface="Malgun Gothic" pitchFamily="34" charset="-120"/>
              </a:rPr>
              <a:t>모델에게 근거 안에서만 답하라고 지시해도, 지켰는지는 모델에게 묻지 않고 문자열로 확인한다.</a:t>
            </a:r>
            <a:endParaRPr lang="en-US" sz="1600" dirty="0"/>
          </a:p>
        </p:txBody>
      </p:sp>
      <p:sp>
        <p:nvSpPr>
          <p:cNvPr id="22" name="Text 20"/>
          <p:cNvSpPr txBox="1"/>
          <p:nvPr/>
        </p:nvSpPr>
        <p:spPr>
          <a:xfrm>
            <a:off x="548640" y="4800600"/>
            <a:ext cx="11094415" cy="822960"/>
          </a:xfrm>
          <a:prstGeom prst="rect">
            <a:avLst/>
          </a:prstGeom>
          <a:noFill/>
          <a:ln/>
        </p:spPr>
        <p:txBody>
          <a:bodyPr wrap="square" lIns="0" tIns="0" rIns="0" bIns="0" rtlCol="0" anchor="t"/>
          <a:lstStyle/>
          <a:p>
            <a:pPr indent="0" marL="0">
              <a:buNone/>
            </a:pPr>
            <a:r>
              <a:rPr lang="en-US" sz="1400" dirty="0">
                <a:solidFill>
                  <a:srgbClr val="5B6168"/>
                </a:solidFill>
                <a:latin typeface="Malgun Gothic" pitchFamily="34" charset="0"/>
                <a:ea typeface="Malgun Gothic" pitchFamily="34" charset="-122"/>
                <a:cs typeface="Malgun Gothic" pitchFamily="34" charset="-120"/>
              </a:rPr>
              <a:t>한계: 수치 검사는 숫자가 근거에 있는지만 본다. 같은 표의 다른 항목 값을 가져온 경우는 평가셋의 정답 사실(must_include)과 다른 변종 값 혼입(must_not_include)으로 따로 잡는다.</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다른 AI 에게 검토를 맡기고, 재현한 것만 고쳤다</a:t>
            </a:r>
            <a:endParaRPr lang="en-US" sz="3000" dirty="0"/>
          </a:p>
        </p:txBody>
      </p:sp>
      <p:sp>
        <p:nvSpPr>
          <p:cNvPr id="3"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제출 전에 GPT(Codex, 읽기 전용)에게 저장소 검토를 맡겼다. 지적을 받아들이기 전에 같은 입력으로 직접 재현했다.</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566160"/>
                <a:gridCol w="3931920"/>
                <a:gridCol w="3596335"/>
              </a:tblGrid>
              <a:tr h="548640">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지적</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재현</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수정과 회귀 테스트</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54864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용어표에 없는 질문이 근거 충분성을 통과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“CH334U의 색상은?” 판정 용어 0개인데 통과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판정 용어가 없으면 차단</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“입력 전압” 이 voltage 하나로 충족</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입력, 출력 전압을 함께 물어도 통과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복합 용어는 모든 단어가 있어야 찾음</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수치 검사가 부호를 버림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근거 -40 °C 에 답 +40 °C 가 통과</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부호와 % 를 지켜 비교</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두 품번 비교는 첫 품번만 검색</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“CH334U와 CH334R 차이” 가 CH334U 만 봄</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비교 질문은 답하지 않음</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TI 품번을 읽지 못함</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000000"/>
                          </a:solidFill>
                          <a:latin typeface="Malgun Gothic" pitchFamily="34" charset="0"/>
                          <a:ea typeface="Malgun Gothic" pitchFamily="34" charset="-122"/>
                          <a:cs typeface="Malgun Gothic" pitchFamily="34" charset="-120"/>
                        </a:rPr>
                        <a:t>TPS2552DBVR, LMR33630ADDAR 추출 실패</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indent="0" marL="0">
                        <a:buNone/>
                      </a:pPr>
                      <a:r>
                        <a:rPr lang="en-US" sz="1400" dirty="0">
                          <a:solidFill>
                            <a:srgbClr val="2A78D6"/>
                          </a:solidFill>
                          <a:latin typeface="Malgun Gothic" pitchFamily="34" charset="0"/>
                          <a:ea typeface="Malgun Gothic" pitchFamily="34" charset="-122"/>
                          <a:cs typeface="Malgun Gothic" pitchFamily="34" charset="-120"/>
                        </a:rPr>
                        <a:t>문서별 변종 규칙 (10쪽)</a:t>
                      </a:r>
                      <a:endParaRPr lang="en-US" sz="1400" dirty="0">
                        <a:latin typeface="Malgun Gothic" charset="0"/>
                        <a:ea typeface="Malgun Gothic" charset="0"/>
                        <a:cs typeface="Malgun Gothic" charset="0"/>
                      </a:endParaRPr>
                    </a:p>
                  </a:txBody>
                  <a:tcPr marL="109728" marR="109728"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5" name="Text 2"/>
          <p:cNvSpPr txBox="1"/>
          <p:nvPr/>
        </p:nvSpPr>
        <p:spPr>
          <a:xfrm>
            <a:off x="548640" y="5349240"/>
            <a:ext cx="11094415" cy="73152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재현한 입력은 tests/regression_questions.json 에 회귀 테스트로 남겼다. 기준값을 정한 평가셋에는 넣지 않았다. 같은 셋에 넣고 다시 100% 를 내는 것은 독립 검증이 아니기 때문이다. 고친 뒤에도 기준값과 평가셋 결과는 그대로였다.</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시연 시나리오</a:t>
            </a:r>
            <a:endParaRPr lang="en-US" sz="3000" dirty="0"/>
          </a:p>
        </p:txBody>
      </p:sp>
      <p:sp>
        <p:nvSpPr>
          <p:cNvPr id="3" name="scenario-1"/>
          <p:cNvSpPr/>
          <p:nvPr/>
        </p:nvSpPr>
        <p:spPr>
          <a:xfrm>
            <a:off x="548640" y="1371600"/>
            <a:ext cx="5364328" cy="1965960"/>
          </a:xfrm>
          <a:prstGeom prst="roundRect">
            <a:avLst>
              <a:gd name="adj" fmla="val 3721"/>
            </a:avLst>
          </a:prstGeom>
          <a:solidFill>
            <a:srgbClr val="F3F5F7"/>
          </a:solidFill>
          <a:ln/>
        </p:spPr>
      </p:sp>
      <p:sp>
        <p:nvSpPr>
          <p:cNvPr id="4" name="badge-15"/>
          <p:cNvSpPr/>
          <p:nvPr/>
        </p:nvSpPr>
        <p:spPr>
          <a:xfrm>
            <a:off x="822960" y="1645920"/>
            <a:ext cx="502920" cy="502920"/>
          </a:xfrm>
          <a:prstGeom prst="ellipse">
            <a:avLst/>
          </a:prstGeom>
          <a:solidFill>
            <a:srgbClr val="2A78D6"/>
          </a:solidFill>
          <a:ln/>
        </p:spPr>
      </p:sp>
      <p:sp>
        <p:nvSpPr>
          <p:cNvPr id="5" name="Text 3"/>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6" name="Text 4"/>
          <p:cNvSpPr txBox="1"/>
          <p:nvPr/>
        </p:nvSpPr>
        <p:spPr>
          <a:xfrm>
            <a:off x="1508760" y="1691640"/>
            <a:ext cx="417560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공통 사양</a:t>
            </a:r>
            <a:endParaRPr lang="en-US" sz="1800" dirty="0"/>
          </a:p>
        </p:txBody>
      </p:sp>
      <p:sp>
        <p:nvSpPr>
          <p:cNvPr id="7" name="Text 5"/>
          <p:cNvSpPr txBox="1"/>
          <p:nvPr/>
        </p:nvSpPr>
        <p:spPr>
          <a:xfrm>
            <a:off x="822960" y="2286000"/>
            <a:ext cx="4815688"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“CH334U의 동작 전압(VDD33)은?”</a:t>
            </a:r>
            <a:endParaRPr lang="en-US" sz="1500" dirty="0"/>
          </a:p>
        </p:txBody>
      </p:sp>
      <p:sp>
        <p:nvSpPr>
          <p:cNvPr id="8" name="Text 6"/>
          <p:cNvSpPr txBox="1"/>
          <p:nvPr/>
        </p:nvSpPr>
        <p:spPr>
          <a:xfrm>
            <a:off x="822960" y="2697480"/>
            <a:ext cx="4815688" cy="54864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품번이 적히지 않은 p.21 전기적 특성 표가 근거로 들어오고, 답에 [p.21] 이 붙는다</a:t>
            </a:r>
            <a:endParaRPr lang="en-US" sz="1500" dirty="0"/>
          </a:p>
        </p:txBody>
      </p:sp>
      <p:sp>
        <p:nvSpPr>
          <p:cNvPr id="9" name="scenario-2"/>
          <p:cNvSpPr/>
          <p:nvPr/>
        </p:nvSpPr>
        <p:spPr>
          <a:xfrm>
            <a:off x="6278728" y="1371600"/>
            <a:ext cx="5364328" cy="1965960"/>
          </a:xfrm>
          <a:prstGeom prst="roundRect">
            <a:avLst>
              <a:gd name="adj" fmla="val 3721"/>
            </a:avLst>
          </a:prstGeom>
          <a:solidFill>
            <a:srgbClr val="F3F5F7"/>
          </a:solidFill>
          <a:ln/>
        </p:spPr>
      </p:sp>
      <p:sp>
        <p:nvSpPr>
          <p:cNvPr id="10" name="badge-16"/>
          <p:cNvSpPr/>
          <p:nvPr/>
        </p:nvSpPr>
        <p:spPr>
          <a:xfrm>
            <a:off x="6553048" y="1645920"/>
            <a:ext cx="502920" cy="502920"/>
          </a:xfrm>
          <a:prstGeom prst="ellipse">
            <a:avLst/>
          </a:prstGeom>
          <a:solidFill>
            <a:srgbClr val="2A78D6"/>
          </a:solidFill>
          <a:ln/>
        </p:spPr>
      </p:sp>
      <p:sp>
        <p:nvSpPr>
          <p:cNvPr id="11" name="Text 9"/>
          <p:cNvSpPr txBox="1"/>
          <p:nvPr/>
        </p:nvSpPr>
        <p:spPr>
          <a:xfrm>
            <a:off x="6553048" y="1645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2" name="Text 10"/>
          <p:cNvSpPr txBox="1"/>
          <p:nvPr/>
        </p:nvSpPr>
        <p:spPr>
          <a:xfrm>
            <a:off x="7238848" y="1691640"/>
            <a:ext cx="417560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변종 구분</a:t>
            </a:r>
            <a:endParaRPr lang="en-US" sz="1800" dirty="0"/>
          </a:p>
        </p:txBody>
      </p:sp>
      <p:sp>
        <p:nvSpPr>
          <p:cNvPr id="13" name="Text 11"/>
          <p:cNvSpPr txBox="1"/>
          <p:nvPr/>
        </p:nvSpPr>
        <p:spPr>
          <a:xfrm>
            <a:off x="6553048" y="2286000"/>
            <a:ext cx="4815688"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“CH334R의 패키지는?”</a:t>
            </a:r>
            <a:endParaRPr lang="en-US" sz="1500" dirty="0"/>
          </a:p>
        </p:txBody>
      </p:sp>
      <p:sp>
        <p:nvSpPr>
          <p:cNvPr id="14" name="Text 12"/>
          <p:cNvSpPr txBox="1"/>
          <p:nvPr/>
        </p:nvSpPr>
        <p:spPr>
          <a:xfrm>
            <a:off x="6553048" y="2697480"/>
            <a:ext cx="4815688" cy="54864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같은 표에 있는 CH334U(QSOP28) 값이 답에 섞이지 않는다</a:t>
            </a:r>
            <a:endParaRPr lang="en-US" sz="1500" dirty="0"/>
          </a:p>
        </p:txBody>
      </p:sp>
      <p:sp>
        <p:nvSpPr>
          <p:cNvPr id="15" name="scenario-3"/>
          <p:cNvSpPr/>
          <p:nvPr/>
        </p:nvSpPr>
        <p:spPr>
          <a:xfrm>
            <a:off x="548640" y="3657600"/>
            <a:ext cx="5364328" cy="1965960"/>
          </a:xfrm>
          <a:prstGeom prst="roundRect">
            <a:avLst>
              <a:gd name="adj" fmla="val 3721"/>
            </a:avLst>
          </a:prstGeom>
          <a:solidFill>
            <a:srgbClr val="FBEDE7"/>
          </a:solidFill>
          <a:ln/>
        </p:spPr>
      </p:sp>
      <p:sp>
        <p:nvSpPr>
          <p:cNvPr id="16" name="badge-17"/>
          <p:cNvSpPr/>
          <p:nvPr/>
        </p:nvSpPr>
        <p:spPr>
          <a:xfrm>
            <a:off x="822960" y="3931920"/>
            <a:ext cx="502920" cy="502920"/>
          </a:xfrm>
          <a:prstGeom prst="ellipse">
            <a:avLst/>
          </a:prstGeom>
          <a:solidFill>
            <a:srgbClr val="D2551F"/>
          </a:solidFill>
          <a:ln/>
        </p:spPr>
      </p:sp>
      <p:sp>
        <p:nvSpPr>
          <p:cNvPr id="17" name="Text 15"/>
          <p:cNvSpPr txBox="1"/>
          <p:nvPr/>
        </p:nvSpPr>
        <p:spPr>
          <a:xfrm>
            <a:off x="822960" y="3931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8" name="Text 16"/>
          <p:cNvSpPr txBox="1"/>
          <p:nvPr/>
        </p:nvSpPr>
        <p:spPr>
          <a:xfrm>
            <a:off x="1508760" y="3977640"/>
            <a:ext cx="417560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없는 품번</a:t>
            </a:r>
            <a:endParaRPr lang="en-US" sz="1800" dirty="0"/>
          </a:p>
        </p:txBody>
      </p:sp>
      <p:sp>
        <p:nvSpPr>
          <p:cNvPr id="19" name="Text 17"/>
          <p:cNvSpPr txBox="1"/>
          <p:nvPr/>
        </p:nvSpPr>
        <p:spPr>
          <a:xfrm>
            <a:off x="822960" y="4572000"/>
            <a:ext cx="4815688"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“CH999Z의 동작 전압은?”</a:t>
            </a:r>
            <a:endParaRPr lang="en-US" sz="1500" dirty="0"/>
          </a:p>
        </p:txBody>
      </p:sp>
      <p:sp>
        <p:nvSpPr>
          <p:cNvPr id="20" name="Text 18"/>
          <p:cNvSpPr txBox="1"/>
          <p:nvPr/>
        </p:nvSpPr>
        <p:spPr>
          <a:xfrm>
            <a:off x="822960" y="4983480"/>
            <a:ext cx="4815688" cy="54864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검증 게이트에서 차단. 모델을 부르지 않는다</a:t>
            </a:r>
            <a:endParaRPr lang="en-US" sz="1500" dirty="0"/>
          </a:p>
        </p:txBody>
      </p:sp>
      <p:sp>
        <p:nvSpPr>
          <p:cNvPr id="21" name="scenario-4"/>
          <p:cNvSpPr/>
          <p:nvPr/>
        </p:nvSpPr>
        <p:spPr>
          <a:xfrm>
            <a:off x="6278728" y="3657600"/>
            <a:ext cx="5364328" cy="1965960"/>
          </a:xfrm>
          <a:prstGeom prst="roundRect">
            <a:avLst>
              <a:gd name="adj" fmla="val 3721"/>
            </a:avLst>
          </a:prstGeom>
          <a:solidFill>
            <a:srgbClr val="FBEDE7"/>
          </a:solidFill>
          <a:ln/>
        </p:spPr>
      </p:sp>
      <p:sp>
        <p:nvSpPr>
          <p:cNvPr id="22" name="badge-18"/>
          <p:cNvSpPr/>
          <p:nvPr/>
        </p:nvSpPr>
        <p:spPr>
          <a:xfrm>
            <a:off x="6553048" y="3931920"/>
            <a:ext cx="502920" cy="502920"/>
          </a:xfrm>
          <a:prstGeom prst="ellipse">
            <a:avLst/>
          </a:prstGeom>
          <a:solidFill>
            <a:srgbClr val="D2551F"/>
          </a:solidFill>
          <a:ln/>
        </p:spPr>
      </p:sp>
      <p:sp>
        <p:nvSpPr>
          <p:cNvPr id="23" name="Text 21"/>
          <p:cNvSpPr txBox="1"/>
          <p:nvPr/>
        </p:nvSpPr>
        <p:spPr>
          <a:xfrm>
            <a:off x="6553048" y="3931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4</a:t>
            </a:r>
            <a:endParaRPr lang="en-US" sz="1800" dirty="0"/>
          </a:p>
        </p:txBody>
      </p:sp>
      <p:sp>
        <p:nvSpPr>
          <p:cNvPr id="24" name="Text 22"/>
          <p:cNvSpPr txBox="1"/>
          <p:nvPr/>
        </p:nvSpPr>
        <p:spPr>
          <a:xfrm>
            <a:off x="7238848" y="3977640"/>
            <a:ext cx="4175608" cy="411480"/>
          </a:xfrm>
          <a:prstGeom prst="rect">
            <a:avLst/>
          </a:prstGeom>
          <a:noFill/>
          <a:ln/>
        </p:spPr>
        <p:txBody>
          <a:bodyPr wrap="square" lIns="0" tIns="0" rIns="0" bIns="0" rtlCol="0" anchor="t"/>
          <a:lstStyle/>
          <a:p>
            <a:pPr indent="0" marL="0">
              <a:buNone/>
            </a:pPr>
            <a:r>
              <a:rPr lang="en-US" sz="1800" b="1" dirty="0">
                <a:solidFill>
                  <a:srgbClr val="1F2328"/>
                </a:solidFill>
                <a:latin typeface="Malgun Gothic" pitchFamily="34" charset="0"/>
                <a:ea typeface="Malgun Gothic" pitchFamily="34" charset="-122"/>
                <a:cs typeface="Malgun Gothic" pitchFamily="34" charset="-120"/>
              </a:rPr>
              <a:t>없는 사양</a:t>
            </a:r>
            <a:endParaRPr lang="en-US" sz="1800" dirty="0"/>
          </a:p>
        </p:txBody>
      </p:sp>
      <p:sp>
        <p:nvSpPr>
          <p:cNvPr id="25" name="Text 23"/>
          <p:cNvSpPr txBox="1"/>
          <p:nvPr/>
        </p:nvSpPr>
        <p:spPr>
          <a:xfrm>
            <a:off x="6553048" y="4572000"/>
            <a:ext cx="4815688"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“CH334U는 HDMI 2.1을 지원하는가?”</a:t>
            </a:r>
            <a:endParaRPr lang="en-US" sz="1500" dirty="0"/>
          </a:p>
        </p:txBody>
      </p:sp>
      <p:sp>
        <p:nvSpPr>
          <p:cNvPr id="26" name="Text 24"/>
          <p:cNvSpPr txBox="1"/>
          <p:nvPr/>
        </p:nvSpPr>
        <p:spPr>
          <a:xfrm>
            <a:off x="6553048" y="4983480"/>
            <a:ext cx="4815688" cy="548640"/>
          </a:xfrm>
          <a:prstGeom prst="rect">
            <a:avLst/>
          </a:prstGeom>
          <a:noFill/>
          <a:ln/>
        </p:spPr>
        <p:txBody>
          <a:bodyPr wrap="square" lIns="0" tIns="0" rIns="0" bIns="0" rtlCol="0" anchor="t"/>
          <a:lstStyle/>
          <a:p>
            <a:pPr indent="0" marL="0">
              <a:buNone/>
            </a:pPr>
            <a:r>
              <a:rPr lang="en-US" sz="1500" dirty="0">
                <a:solidFill>
                  <a:srgbClr val="1F2328"/>
                </a:solidFill>
                <a:latin typeface="Malgun Gothic" pitchFamily="34" charset="0"/>
                <a:ea typeface="Malgun Gothic" pitchFamily="34" charset="-122"/>
                <a:cs typeface="Malgun Gothic" pitchFamily="34" charset="-120"/>
              </a:rPr>
              <a:t>품번은 맞지만 HDMI 가 근거에 없어 차단. 모델을 부르지 않는다</a:t>
            </a:r>
            <a:endParaRPr lang="en-US" sz="1500" dirty="0"/>
          </a:p>
        </p:txBody>
      </p:sp>
      <p:sp>
        <p:nvSpPr>
          <p:cNvPr id="27" name="Text 25"/>
          <p:cNvSpPr txBox="1"/>
          <p:nvPr/>
        </p:nvSpPr>
        <p:spPr>
          <a:xfrm>
            <a:off x="548640" y="5897880"/>
            <a:ext cx="11094415" cy="45720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ZIP 맨 위 시연.html 의 네 버튼이 이 시나리오다. 3, 4는 모델을 부르지 않는다. 위쪽 ‘modulino 부품 전체’ 를 누르면 U5, TPS2553, U4(미등록), 두 부품 비교 시나리오로 바뀐다.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시연 화면: 답이 나가는 경우</a:t>
            </a:r>
            <a:endParaRPr lang="en-US" sz="3000" dirty="0"/>
          </a:p>
        </p:txBody>
      </p:sp>
      <p:sp>
        <p:nvSpPr>
          <p:cNvPr id="3" name="Text 1"/>
          <p:cNvSpPr txBox="1"/>
          <p:nvPr/>
        </p:nvSpPr>
        <p:spPr>
          <a:xfrm>
            <a:off x="548640" y="1325880"/>
            <a:ext cx="11094415"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시연.html 시나리오 1 “CH334U의 동작 전압(VDD33)은?”  근거 충분성 통과, 모델 호출, 답변과 원문 대조</a:t>
            </a:r>
            <a:endParaRPr lang="en-US" sz="1500" dirty="0"/>
          </a:p>
        </p:txBody>
      </p:sp>
      <p:pic>
        <p:nvPicPr>
          <p:cNvPr id="4" name="Image 0" descr="시연.html 시나리오 1 “CH334U의 동작 전압(VDD33)은?”  근거 충분성 통과, 모델 호출, 답변과 원문 대조">    </p:cNvPr>
          <p:cNvPicPr>
            <a:picLocks noChangeAspect="1"/>
          </p:cNvPicPr>
          <p:nvPr/>
        </p:nvPicPr>
        <p:blipFill>
          <a:blip r:embed="rId1"/>
          <a:stretch>
            <a:fillRect/>
          </a:stretch>
        </p:blipFill>
        <p:spPr>
          <a:xfrm>
            <a:off x="548640" y="1828800"/>
            <a:ext cx="11094415" cy="3911493"/>
          </a:xfrm>
          <a:prstGeom prst="rect">
            <a:avLst/>
          </a:prstGeom>
        </p:spPr>
      </p:pic>
      <p:sp>
        <p:nvSpPr>
          <p:cNvPr id="5" name="Text 2"/>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dirty="0">
                <a:solidFill>
                  <a:srgbClr val="D2551F"/>
                </a:solidFill>
                <a:latin typeface="Malgun Gothic" pitchFamily="34" charset="0"/>
                <a:ea typeface="Malgun Gothic" pitchFamily="34" charset="-122"/>
                <a:cs typeface="Malgun Gothic" pitchFamily="34" charset="-120"/>
              </a:rPr>
              <a:t>답변은 평가 1회차 기록이다. 2, 3회차에는 전형값 3.3 V 를 빠뜨려 오답이었고 원문 대조는 세 번 모두 통과했다. 원문 대조는 근거 밖 정보를 막을 뿐 정답을 보장하지 않아 정답 사실을 따로 채점한다.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시연 화면: 답하지 않는 경우</a:t>
            </a:r>
            <a:endParaRPr lang="en-US" sz="3000" dirty="0"/>
          </a:p>
        </p:txBody>
      </p:sp>
      <p:sp>
        <p:nvSpPr>
          <p:cNvPr id="3" name="Text 1"/>
          <p:cNvSpPr txBox="1"/>
          <p:nvPr/>
        </p:nvSpPr>
        <p:spPr>
          <a:xfrm>
            <a:off x="548640" y="1325880"/>
            <a:ext cx="11094415"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시연.html 시나리오 4 “CH334U는 HDMI 2.1을 지원하는가?”  용어 비율 0% 로 차단, 모델 호출 안 함</a:t>
            </a:r>
            <a:endParaRPr lang="en-US" sz="1500" dirty="0"/>
          </a:p>
        </p:txBody>
      </p:sp>
      <p:pic>
        <p:nvPicPr>
          <p:cNvPr id="4" name="Image 0" descr="시연.html 시나리오 4 “CH334U는 HDMI 2.1을 지원하는가?”  용어 비율 0% 로 차단, 모델 호출 안 함">    </p:cNvPr>
          <p:cNvPicPr>
            <a:picLocks noChangeAspect="1"/>
          </p:cNvPicPr>
          <p:nvPr/>
        </p:nvPicPr>
        <p:blipFill>
          <a:blip r:embed="rId1"/>
          <a:stretch>
            <a:fillRect/>
          </a:stretch>
        </p:blipFill>
        <p:spPr>
          <a:xfrm>
            <a:off x="548640" y="1828800"/>
            <a:ext cx="11094415" cy="29158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시연 화면: 회로 기호로 물어도 그 부품 문서만 본다</a:t>
            </a:r>
            <a:endParaRPr lang="en-US" sz="3000" dirty="0"/>
          </a:p>
        </p:txBody>
      </p:sp>
      <p:sp>
        <p:nvSpPr>
          <p:cNvPr id="3" name="Text 1"/>
          <p:cNvSpPr txBox="1"/>
          <p:nvPr/>
        </p:nvSpPr>
        <p:spPr>
          <a:xfrm>
            <a:off x="548640" y="1325880"/>
            <a:ext cx="11094415" cy="365760"/>
          </a:xfrm>
          <a:prstGeom prst="rect">
            <a:avLst/>
          </a:prstGeom>
          <a:noFill/>
          <a:ln/>
        </p:spPr>
        <p:txBody>
          <a:bodyPr wrap="square" lIns="0" tIns="0" rIns="0" bIns="0" rtlCol="0" anchor="t"/>
          <a:lstStyle/>
          <a:p>
            <a:pPr indent="0" marL="0">
              <a:buNone/>
            </a:pPr>
            <a:r>
              <a:rPr lang="en-US" sz="1500" dirty="0">
                <a:solidFill>
                  <a:srgbClr val="5B6168"/>
                </a:solidFill>
                <a:latin typeface="Malgun Gothic" pitchFamily="34" charset="0"/>
                <a:ea typeface="Malgun Gothic" pitchFamily="34" charset="-122"/>
                <a:cs typeface="Malgun Gothic" pitchFamily="34" charset="-120"/>
              </a:rPr>
              <a:t>“U5의 스위칭 주파수는?”  BOM 에서 U5 = LMR33630ADDAR, 변종 LMR33630A. 같은 문서의 B, C 전용 청크는 뺀다</a:t>
            </a:r>
            <a:endParaRPr lang="en-US" sz="1500" dirty="0"/>
          </a:p>
        </p:txBody>
      </p:sp>
      <p:pic>
        <p:nvPicPr>
          <p:cNvPr id="4" name="Image 0" descr="부품 전체 모드에서 U5 질문이 LMR33630A 로 바뀌어 그 문서에서 답하는 화면">    </p:cNvPr>
          <p:cNvPicPr>
            <a:picLocks noChangeAspect="1"/>
          </p:cNvPicPr>
          <p:nvPr/>
        </p:nvPicPr>
        <p:blipFill>
          <a:blip r:embed="rId1"/>
          <a:stretch>
            <a:fillRect/>
          </a:stretch>
        </p:blipFill>
        <p:spPr>
          <a:xfrm>
            <a:off x="690886" y="1828800"/>
            <a:ext cx="10809922" cy="44348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modulino 부품에 적용한 결과</a:t>
            </a:r>
            <a:endParaRPr lang="en-US" sz="3000" dirty="0"/>
          </a:p>
        </p:txBody>
      </p:sp>
      <p:sp>
        <p:nvSpPr>
          <p:cNvPr id="3" name="cov-0"/>
          <p:cNvSpPr/>
          <p:nvPr/>
        </p:nvSpPr>
        <p:spPr>
          <a:xfrm>
            <a:off x="548640" y="1325880"/>
            <a:ext cx="2926080" cy="1325880"/>
          </a:xfrm>
          <a:prstGeom prst="roundRect">
            <a:avLst>
              <a:gd name="adj" fmla="val 5517"/>
            </a:avLst>
          </a:prstGeom>
          <a:solidFill>
            <a:srgbClr val="F3F5F7"/>
          </a:solidFill>
          <a:ln/>
        </p:spPr>
      </p:sp>
      <p:sp>
        <p:nvSpPr>
          <p:cNvPr id="4" name="Text 2"/>
          <p:cNvSpPr txBox="1"/>
          <p:nvPr/>
        </p:nvSpPr>
        <p:spPr>
          <a:xfrm>
            <a:off x="777240" y="1435608"/>
            <a:ext cx="1097280" cy="685800"/>
          </a:xfrm>
          <a:prstGeom prst="rect">
            <a:avLst/>
          </a:prstGeom>
          <a:noFill/>
          <a:ln/>
        </p:spPr>
        <p:txBody>
          <a:bodyPr wrap="square" lIns="0" tIns="0" rIns="0" bIns="0" rtlCol="0" anchor="t"/>
          <a:lstStyle/>
          <a:p>
            <a:pPr indent="0" marL="0">
              <a:buNone/>
            </a:pPr>
            <a:r>
              <a:rPr lang="en-US" sz="3200" b="1" dirty="0">
                <a:solidFill>
                  <a:srgbClr val="2A78D6"/>
                </a:solidFill>
                <a:latin typeface="Malgun Gothic" pitchFamily="34" charset="0"/>
                <a:ea typeface="Malgun Gothic" pitchFamily="34" charset="-122"/>
                <a:cs typeface="Malgun Gothic" pitchFamily="34" charset="-120"/>
              </a:rPr>
              <a:t>6</a:t>
            </a:r>
            <a:endParaRPr lang="en-US" sz="3200" dirty="0"/>
          </a:p>
        </p:txBody>
      </p:sp>
      <p:sp>
        <p:nvSpPr>
          <p:cNvPr id="5" name="Text 3"/>
          <p:cNvSpPr txBox="1"/>
          <p:nvPr/>
        </p:nvSpPr>
        <p:spPr>
          <a:xfrm>
            <a:off x="1783080" y="1508760"/>
            <a:ext cx="1554480" cy="365760"/>
          </a:xfrm>
          <a:prstGeom prst="rect">
            <a:avLst/>
          </a:prstGeom>
          <a:noFill/>
          <a:ln/>
        </p:spPr>
        <p:txBody>
          <a:bodyPr wrap="square" lIns="0" tIns="0" rIns="0" bIns="0" rtlCol="0" anchor="t"/>
          <a:lstStyle/>
          <a:p>
            <a:pPr indent="0" marL="0">
              <a:buNone/>
            </a:pPr>
            <a:r>
              <a:rPr lang="en-US" sz="1400" b="1" dirty="0">
                <a:solidFill>
                  <a:srgbClr val="1F2328"/>
                </a:solidFill>
                <a:latin typeface="Malgun Gothic" pitchFamily="34" charset="0"/>
                <a:ea typeface="Malgun Gothic" pitchFamily="34" charset="-122"/>
                <a:cs typeface="Malgun Gothic" pitchFamily="34" charset="-120"/>
              </a:rPr>
              <a:t>데이터시트 등록</a:t>
            </a:r>
            <a:endParaRPr lang="en-US" sz="1400" dirty="0"/>
          </a:p>
        </p:txBody>
      </p:sp>
      <p:sp>
        <p:nvSpPr>
          <p:cNvPr id="6" name="Text 4"/>
          <p:cNvSpPr txBox="1"/>
          <p:nvPr/>
        </p:nvSpPr>
        <p:spPr>
          <a:xfrm>
            <a:off x="777240" y="2103120"/>
            <a:ext cx="2560320" cy="45720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5권, U1 U2 U3 U5 U6 U7</a:t>
            </a:r>
            <a:endParaRPr lang="en-US" sz="1100" dirty="0"/>
          </a:p>
        </p:txBody>
      </p:sp>
      <p:sp>
        <p:nvSpPr>
          <p:cNvPr id="7" name="cov-1"/>
          <p:cNvSpPr/>
          <p:nvPr/>
        </p:nvSpPr>
        <p:spPr>
          <a:xfrm>
            <a:off x="548640" y="2807208"/>
            <a:ext cx="2926080" cy="1325880"/>
          </a:xfrm>
          <a:prstGeom prst="roundRect">
            <a:avLst>
              <a:gd name="adj" fmla="val 5517"/>
            </a:avLst>
          </a:prstGeom>
          <a:solidFill>
            <a:srgbClr val="F3F5F7"/>
          </a:solidFill>
          <a:ln/>
        </p:spPr>
      </p:sp>
      <p:sp>
        <p:nvSpPr>
          <p:cNvPr id="8" name="Text 6"/>
          <p:cNvSpPr txBox="1"/>
          <p:nvPr/>
        </p:nvSpPr>
        <p:spPr>
          <a:xfrm>
            <a:off x="777240" y="2916936"/>
            <a:ext cx="1097280" cy="685800"/>
          </a:xfrm>
          <a:prstGeom prst="rect">
            <a:avLst/>
          </a:prstGeom>
          <a:noFill/>
          <a:ln/>
        </p:spPr>
        <p:txBody>
          <a:bodyPr wrap="square" lIns="0" tIns="0" rIns="0" bIns="0" rtlCol="0" anchor="t"/>
          <a:lstStyle/>
          <a:p>
            <a:pPr indent="0" marL="0">
              <a:buNone/>
            </a:pPr>
            <a:r>
              <a:rPr lang="en-US" sz="3200" b="1" dirty="0">
                <a:solidFill>
                  <a:srgbClr val="D2551F"/>
                </a:solidFill>
                <a:latin typeface="Malgun Gothic" pitchFamily="34" charset="0"/>
                <a:ea typeface="Malgun Gothic" pitchFamily="34" charset="-122"/>
                <a:cs typeface="Malgun Gothic" pitchFamily="34" charset="-120"/>
              </a:rPr>
              <a:t>8</a:t>
            </a:r>
            <a:endParaRPr lang="en-US" sz="3200" dirty="0"/>
          </a:p>
        </p:txBody>
      </p:sp>
      <p:sp>
        <p:nvSpPr>
          <p:cNvPr id="9" name="Text 7"/>
          <p:cNvSpPr txBox="1"/>
          <p:nvPr/>
        </p:nvSpPr>
        <p:spPr>
          <a:xfrm>
            <a:off x="1783080" y="2990088"/>
            <a:ext cx="1554480" cy="365760"/>
          </a:xfrm>
          <a:prstGeom prst="rect">
            <a:avLst/>
          </a:prstGeom>
          <a:noFill/>
          <a:ln/>
        </p:spPr>
        <p:txBody>
          <a:bodyPr wrap="square" lIns="0" tIns="0" rIns="0" bIns="0" rtlCol="0" anchor="t"/>
          <a:lstStyle/>
          <a:p>
            <a:pPr indent="0" marL="0">
              <a:buNone/>
            </a:pPr>
            <a:r>
              <a:rPr lang="en-US" sz="1400" b="1" dirty="0">
                <a:solidFill>
                  <a:srgbClr val="1F2328"/>
                </a:solidFill>
                <a:latin typeface="Malgun Gothic" pitchFamily="34" charset="0"/>
                <a:ea typeface="Malgun Gothic" pitchFamily="34" charset="-122"/>
                <a:cs typeface="Malgun Gothic" pitchFamily="34" charset="-120"/>
              </a:rPr>
              <a:t>품번 있음, 미등록</a:t>
            </a:r>
            <a:endParaRPr lang="en-US" sz="1400" dirty="0"/>
          </a:p>
        </p:txBody>
      </p:sp>
      <p:sp>
        <p:nvSpPr>
          <p:cNvPr id="10" name="Text 8"/>
          <p:cNvSpPr txBox="1"/>
          <p:nvPr/>
        </p:nvSpPr>
        <p:spPr>
          <a:xfrm>
            <a:off x="777240" y="3584448"/>
            <a:ext cx="2560320" cy="45720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ESD, 다이오드, MOSFET 등 → 답하지 않음</a:t>
            </a:r>
            <a:endParaRPr lang="en-US" sz="1100" dirty="0"/>
          </a:p>
        </p:txBody>
      </p:sp>
      <p:sp>
        <p:nvSpPr>
          <p:cNvPr id="11" name="cov-2"/>
          <p:cNvSpPr/>
          <p:nvPr/>
        </p:nvSpPr>
        <p:spPr>
          <a:xfrm>
            <a:off x="548640" y="4288536"/>
            <a:ext cx="2926080" cy="1325880"/>
          </a:xfrm>
          <a:prstGeom prst="roundRect">
            <a:avLst>
              <a:gd name="adj" fmla="val 5517"/>
            </a:avLst>
          </a:prstGeom>
          <a:solidFill>
            <a:srgbClr val="F3F5F7"/>
          </a:solidFill>
          <a:ln/>
        </p:spPr>
      </p:sp>
      <p:sp>
        <p:nvSpPr>
          <p:cNvPr id="12" name="Text 10"/>
          <p:cNvSpPr txBox="1"/>
          <p:nvPr/>
        </p:nvSpPr>
        <p:spPr>
          <a:xfrm>
            <a:off x="777240" y="4398264"/>
            <a:ext cx="1097280" cy="685800"/>
          </a:xfrm>
          <a:prstGeom prst="rect">
            <a:avLst/>
          </a:prstGeom>
          <a:noFill/>
          <a:ln/>
        </p:spPr>
        <p:txBody>
          <a:bodyPr wrap="square" lIns="0" tIns="0" rIns="0" bIns="0" rtlCol="0" anchor="t"/>
          <a:lstStyle/>
          <a:p>
            <a:pPr indent="0" marL="0">
              <a:buNone/>
            </a:pPr>
            <a:r>
              <a:rPr lang="en-US" sz="3200" b="1" dirty="0">
                <a:solidFill>
                  <a:srgbClr val="5B6168"/>
                </a:solidFill>
                <a:latin typeface="Malgun Gothic" pitchFamily="34" charset="0"/>
                <a:ea typeface="Malgun Gothic" pitchFamily="34" charset="-122"/>
                <a:cs typeface="Malgun Gothic" pitchFamily="34" charset="-120"/>
              </a:rPr>
              <a:t>84</a:t>
            </a:r>
            <a:endParaRPr lang="en-US" sz="3200" dirty="0"/>
          </a:p>
        </p:txBody>
      </p:sp>
      <p:sp>
        <p:nvSpPr>
          <p:cNvPr id="13" name="Text 11"/>
          <p:cNvSpPr txBox="1"/>
          <p:nvPr/>
        </p:nvSpPr>
        <p:spPr>
          <a:xfrm>
            <a:off x="1783080" y="4471416"/>
            <a:ext cx="1554480" cy="365760"/>
          </a:xfrm>
          <a:prstGeom prst="rect">
            <a:avLst/>
          </a:prstGeom>
          <a:noFill/>
          <a:ln/>
        </p:spPr>
        <p:txBody>
          <a:bodyPr wrap="square" lIns="0" tIns="0" rIns="0" bIns="0" rtlCol="0" anchor="t"/>
          <a:lstStyle/>
          <a:p>
            <a:pPr indent="0" marL="0">
              <a:buNone/>
            </a:pPr>
            <a:r>
              <a:rPr lang="en-US" sz="1400" b="1" dirty="0">
                <a:solidFill>
                  <a:srgbClr val="1F2328"/>
                </a:solidFill>
                <a:latin typeface="Malgun Gothic" pitchFamily="34" charset="0"/>
                <a:ea typeface="Malgun Gothic" pitchFamily="34" charset="-122"/>
                <a:cs typeface="Malgun Gothic" pitchFamily="34" charset="-120"/>
              </a:rPr>
              <a:t>수동 소자, 기구</a:t>
            </a:r>
            <a:endParaRPr lang="en-US" sz="1400" dirty="0"/>
          </a:p>
        </p:txBody>
      </p:sp>
      <p:sp>
        <p:nvSpPr>
          <p:cNvPr id="14" name="Text 12"/>
          <p:cNvSpPr txBox="1"/>
          <p:nvPr/>
        </p:nvSpPr>
        <p:spPr>
          <a:xfrm>
            <a:off x="777240" y="5065776"/>
            <a:ext cx="2560320" cy="45720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BOM 값이 정본 → 값만 보여 줌</a:t>
            </a:r>
            <a:endParaRPr lang="en-US" sz="1100" dirty="0"/>
          </a:p>
        </p:txBody>
      </p:sp>
      <p:sp>
        <p:nvSpPr>
          <p:cNvPr id="15" name="Text 13"/>
          <p:cNvSpPr txBox="1"/>
          <p:nvPr/>
        </p:nvSpPr>
        <p:spPr>
          <a:xfrm>
            <a:off x="548640" y="5806440"/>
            <a:ext cx="3840480" cy="274320"/>
          </a:xfrm>
          <a:prstGeom prst="rect">
            <a:avLst/>
          </a:prstGeom>
          <a:noFill/>
          <a:ln/>
        </p:spPr>
        <p:txBody>
          <a:bodyPr wrap="square" lIns="0" tIns="0" rIns="0" bIns="0" rtlCol="0" anchor="t"/>
          <a:lstStyle/>
          <a:p>
            <a:pPr indent="0" marL="0">
              <a:buNone/>
            </a:pPr>
            <a:r>
              <a:rPr lang="en-US" sz="1000" dirty="0">
                <a:solidFill>
                  <a:srgbClr val="5B6168"/>
                </a:solidFill>
                <a:latin typeface="Malgun Gothic" pitchFamily="34" charset="0"/>
                <a:ea typeface="Malgun Gothic" pitchFamily="34" charset="-122"/>
                <a:cs typeface="Malgun Gothic" pitchFamily="34" charset="-120"/>
              </a:rPr>
              <a:t>BOM 표의 회로 기호 98개 기준 (테스트포인트, 점퍼, 미실장 포함)</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840480" y="1325880"/>
          <a:ext cx="7802575" cy="914400"/>
        </p:xfrm>
        <a:graphic>
          <a:graphicData uri="http://schemas.openxmlformats.org/drawingml/2006/table">
            <a:tbl>
              <a:tblPr/>
              <a:tblGrid>
                <a:gridCol w="1554480"/>
                <a:gridCol w="1371600"/>
                <a:gridCol w="1737360"/>
                <a:gridCol w="1737360"/>
                <a:gridCol w="1401775"/>
              </a:tblGrid>
              <a:tr h="502920">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측정</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문서 선택</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답 있는 질문 통과</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근거에 정답 문장</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c>
                  <a:txBody>
                    <a:bodyP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답하지 말 질문 차단</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solidFill>
                      <a:srgbClr val="17202A"/>
                    </a:solidFill>
                  </a:tcPr>
                </a:tc>
              </a:tr>
              <a:tr h="502920">
                <a:tc>
                  <a:txBody>
                    <a:bodyPr/>
                    <a:lstStyle/>
                    <a:p>
                      <a:pPr indent="0" marL="0">
                        <a:buNone/>
                      </a:pPr>
                      <a:r>
                        <a:rPr lang="en-US" sz="1300" b="1" dirty="0">
                          <a:solidFill>
                            <a:srgbClr val="000000"/>
                          </a:solidFill>
                          <a:latin typeface="Malgun Gothic" pitchFamily="34" charset="0"/>
                          <a:ea typeface="Malgun Gothic" pitchFamily="34" charset="-122"/>
                          <a:cs typeface="Malgun Gothic" pitchFamily="34" charset="-120"/>
                        </a:rPr>
                        <a:t>등록 직후</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28/29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17/19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14/19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10/10</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r h="502920">
                <a:tc>
                  <a:txBody>
                    <a:bodyPr/>
                    <a:lstStyle/>
                    <a:p>
                      <a:pPr indent="0" marL="0">
                        <a:buNone/>
                      </a:pPr>
                      <a:r>
                        <a:rPr lang="en-US" sz="1300" b="1" dirty="0">
                          <a:solidFill>
                            <a:srgbClr val="000000"/>
                          </a:solidFill>
                          <a:latin typeface="Malgun Gothic" pitchFamily="34" charset="0"/>
                          <a:ea typeface="Malgun Gothic" pitchFamily="34" charset="-122"/>
                          <a:cs typeface="Malgun Gothic" pitchFamily="34" charset="-120"/>
                        </a:rPr>
                        <a:t>용어 보강 후</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29/29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19/19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15/19</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c>
                  <a:txBody>
                    <a:bodyPr/>
                    <a:lstStyle/>
                    <a:p>
                      <a:pPr algn="ctr" indent="0" marL="0">
                        <a:buNone/>
                      </a:pPr>
                      <a:r>
                        <a:rPr lang="en-US" sz="1300" dirty="0">
                          <a:solidFill>
                            <a:srgbClr val="000000"/>
                          </a:solidFill>
                          <a:latin typeface="Malgun Gothic" pitchFamily="34" charset="0"/>
                          <a:ea typeface="Malgun Gothic" pitchFamily="34" charset="-122"/>
                          <a:cs typeface="Malgun Gothic" pitchFamily="34" charset="-120"/>
                        </a:rPr>
                        <a:t>10/10</a:t>
                      </a:r>
                      <a:endParaRPr lang="en-US" sz="1300" dirty="0">
                        <a:latin typeface="Malgun Gothic" charset="0"/>
                        <a:ea typeface="Malgun Gothic" charset="0"/>
                        <a:cs typeface="Malgun Gothic" charset="0"/>
                      </a:endParaRPr>
                    </a:p>
                  </a:txBody>
                  <a:tcPr marL="73152" marR="73152" marT="0" marB="0" anchor="ctr">
                    <a:lnL w="9525" cap="flat" cmpd="sng" algn="ctr">
                      <a:solidFill>
                        <a:srgbClr val="DADDE1"/>
                      </a:solidFill>
                      <a:prstDash val="solid"/>
                      <a:round/>
                      <a:headEnd type="none" w="med" len="med"/>
                      <a:tailEnd type="none" w="med" len="med"/>
                    </a:lnL>
                    <a:lnR w="9525" cap="flat" cmpd="sng" algn="ctr">
                      <a:solidFill>
                        <a:srgbClr val="DADDE1"/>
                      </a:solidFill>
                      <a:prstDash val="solid"/>
                      <a:round/>
                      <a:headEnd type="none" w="med" len="med"/>
                      <a:tailEnd type="none" w="med" len="med"/>
                    </a:lnR>
                    <a:lnT w="9525" cap="flat" cmpd="sng" algn="ctr">
                      <a:solidFill>
                        <a:srgbClr val="DADDE1"/>
                      </a:solidFill>
                      <a:prstDash val="solid"/>
                      <a:round/>
                      <a:headEnd type="none" w="med" len="med"/>
                      <a:tailEnd type="none" w="med" len="med"/>
                    </a:lnT>
                    <a:lnB w="9525" cap="flat" cmpd="sng" algn="ctr">
                      <a:solidFill>
                        <a:srgbClr val="DADDE1"/>
                      </a:solidFill>
                      <a:prstDash val="solid"/>
                      <a:round/>
                      <a:headEnd type="none" w="med" len="med"/>
                      <a:tailEnd type="none" w="med" len="med"/>
                    </a:lnB>
                  </a:tcPr>
                </a:tc>
              </a:tr>
            </a:tbl>
          </a:graphicData>
        </a:graphic>
      </p:graphicFrame>
      <p:sp>
        <p:nvSpPr>
          <p:cNvPr id="17" name="Text 14"/>
          <p:cNvSpPr txBox="1"/>
          <p:nvPr/>
        </p:nvSpPr>
        <p:spPr>
          <a:xfrm>
            <a:off x="3840480" y="3017520"/>
            <a:ext cx="7802575" cy="64008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평가 질문 29개 (답 있음 19, 답하지 말아야 함 10). 기준값 2.5 / 0.67 은 CH334 로 정한 값 그대로. TI 4권은 기준값을 정할 때 쓰지 않은 문서다.</a:t>
            </a:r>
            <a:endParaRPr lang="en-US" sz="1300" dirty="0"/>
          </a:p>
        </p:txBody>
      </p:sp>
      <p:sp>
        <p:nvSpPr>
          <p:cNvPr id="18" name="Text 15"/>
          <p:cNvSpPr txBox="1"/>
          <p:nvPr/>
        </p:nvSpPr>
        <p:spPr>
          <a:xfrm>
            <a:off x="3840480" y="3749040"/>
            <a:ext cx="7802575" cy="365760"/>
          </a:xfrm>
          <a:prstGeom prst="rect">
            <a:avLst/>
          </a:prstGeom>
          <a:noFill/>
          <a:ln/>
        </p:spPr>
        <p:txBody>
          <a:bodyPr wrap="square" lIns="0" tIns="0" rIns="0" bIns="0" rtlCol="0" anchor="t"/>
          <a:lstStyle/>
          <a:p>
            <a:pPr indent="0" marL="0">
              <a:buNone/>
            </a:pPr>
            <a:r>
              <a:rPr lang="en-US" sz="1400" b="1" dirty="0">
                <a:solidFill>
                  <a:srgbClr val="1F2328"/>
                </a:solidFill>
                <a:latin typeface="Malgun Gothic" pitchFamily="34" charset="0"/>
                <a:ea typeface="Malgun Gothic" pitchFamily="34" charset="-122"/>
                <a:cs typeface="Malgun Gothic" pitchFamily="34" charset="-120"/>
              </a:rPr>
              <a:t>답변까지 (로컬 gemma3:4b): 정답 11/19</a:t>
            </a:r>
            <a:endParaRPr lang="en-US" sz="1400" dirty="0"/>
          </a:p>
        </p:txBody>
      </p:sp>
      <p:sp>
        <p:nvSpPr>
          <p:cNvPr id="19" name="Text 16"/>
          <p:cNvSpPr txBox="1"/>
          <p:nvPr/>
        </p:nvSpPr>
        <p:spPr>
          <a:xfrm>
            <a:off x="3840480" y="4206240"/>
            <a:ext cx="7802575" cy="1280160"/>
          </a:xfrm>
          <a:prstGeom prst="rect">
            <a:avLst/>
          </a:prstGeom>
          <a:noFill/>
          <a:ln/>
        </p:spPr>
        <p:txBody>
          <a:bodyPr wrap="square" lIns="0" tIns="0" rIns="0" bIns="0" rtlCol="0" anchor="t"/>
          <a:lstStyle/>
          <a:p>
            <a:pPr indent="0" marL="0">
              <a:spcAft>
                <a:spcPts val="600"/>
              </a:spcAft>
              <a:buNone/>
            </a:pPr>
            <a:r>
              <a:rPr lang="en-US" sz="1300" b="1" dirty="0">
                <a:solidFill>
                  <a:srgbClr val="1F2328"/>
                </a:solidFill>
                <a:latin typeface="Malgun Gothic" pitchFamily="34" charset="0"/>
                <a:ea typeface="Malgun Gothic" pitchFamily="34" charset="-122"/>
                <a:cs typeface="Malgun Gothic" pitchFamily="34" charset="-120"/>
              </a:rPr>
              <a:t>등록 직후 막힌 것: </a:t>
            </a:r>
            <a:pPr indent="0" marL="0">
              <a:spcAft>
                <a:spcPts val="600"/>
              </a:spcAft>
              <a:buNone/>
            </a:pPr>
            <a:r>
              <a:rPr lang="en-US" sz="1300" dirty="0">
                <a:solidFill>
                  <a:srgbClr val="1F2328"/>
                </a:solidFill>
                <a:latin typeface="Malgun Gothic" pitchFamily="34" charset="0"/>
                <a:ea typeface="Malgun Gothic" pitchFamily="34" charset="-122"/>
                <a:cs typeface="Malgun Gothic" pitchFamily="34" charset="-120"/>
              </a:rPr>
              <a:t>핀 이름 VDD33 을 다른 품번으로 셈, “최대 연속 전류” 의 용어 누락, 실행마다 검색 결과가 바뀌던 품번 제거 순서 버그 → 고침</a:t>
            </a:r>
            <a:endParaRPr lang="en-US" sz="1300" dirty="0"/>
          </a:p>
          <a:p>
            <a:pPr indent="0" marL="0">
              <a:spcAft>
                <a:spcPts val="600"/>
              </a:spcAft>
              <a:buNone/>
            </a:pPr>
            <a:r>
              <a:rPr lang="en-US" sz="1300" b="1" dirty="0">
                <a:solidFill>
                  <a:srgbClr val="D2551F"/>
                </a:solidFill>
                <a:latin typeface="Malgun Gothic" pitchFamily="34" charset="0"/>
                <a:ea typeface="Malgun Gothic" pitchFamily="34" charset="-122"/>
                <a:cs typeface="Malgun Gothic" pitchFamily="34" charset="-120"/>
              </a:rPr>
              <a:t>남은 것: </a:t>
            </a:r>
            <a:pPr indent="0" marL="0">
              <a:spcAft>
                <a:spcPts val="600"/>
              </a:spcAft>
              <a:buNone/>
            </a:pPr>
            <a:r>
              <a:rPr lang="en-US" sz="1300" dirty="0">
                <a:solidFill>
                  <a:srgbClr val="1F2328"/>
                </a:solidFill>
                <a:latin typeface="Malgun Gothic" pitchFamily="34" charset="0"/>
                <a:ea typeface="Malgun Gothic" pitchFamily="34" charset="-122"/>
                <a:cs typeface="Malgun Gothic" pitchFamily="34" charset="-120"/>
              </a:rPr>
              <a:t>1쪽 기능 목록에만 한 줄로 있는 값 4건을 근거로 못 가져옴 (조건별 표를 먼저 가져옴). 답변은 4B 로컬 모델이 병목 (절대최대값을 동작 전압으로, 근거가 있는데 거절)</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눈으로는 없는 것을 못 본다</a:t>
            </a:r>
            <a:endParaRPr lang="en-US" sz="3000" dirty="0"/>
          </a:p>
        </p:txBody>
      </p:sp>
      <p:sp>
        <p:nvSpPr>
          <p:cNvPr id="3" name="Text 1"/>
          <p:cNvSpPr txBox="1"/>
          <p:nvPr/>
        </p:nvSpPr>
        <p:spPr>
          <a:xfrm>
            <a:off x="548640" y="1325880"/>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V1</a:t>
            </a:r>
            <a:endParaRPr lang="en-US" sz="1300" dirty="0"/>
          </a:p>
        </p:txBody>
      </p:sp>
      <p:sp>
        <p:nvSpPr>
          <p:cNvPr id="4" name="Text 2"/>
          <p:cNvSpPr txBox="1"/>
          <p:nvPr/>
        </p:nvSpPr>
        <p:spPr>
          <a:xfrm>
            <a:off x="1143000" y="1325880"/>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합성 부품이 심볼 1개로 그려짐</a:t>
            </a:r>
            <a:endParaRPr lang="en-US" sz="1400" dirty="0"/>
          </a:p>
        </p:txBody>
      </p:sp>
      <p:sp>
        <p:nvSpPr>
          <p:cNvPr id="5" name="Text 3"/>
          <p:cNvSpPr txBox="1"/>
          <p:nvPr/>
        </p:nvSpPr>
        <p:spPr>
          <a:xfrm>
            <a:off x="548640" y="1755648"/>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V2</a:t>
            </a:r>
            <a:endParaRPr lang="en-US" sz="1300" dirty="0"/>
          </a:p>
        </p:txBody>
      </p:sp>
      <p:sp>
        <p:nvSpPr>
          <p:cNvPr id="6" name="Text 4"/>
          <p:cNvSpPr txBox="1"/>
          <p:nvPr/>
        </p:nvSpPr>
        <p:spPr>
          <a:xfrm>
            <a:off x="1143000" y="1755648"/>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도면 캐시가 라이브러리와 다름</a:t>
            </a:r>
            <a:endParaRPr lang="en-US" sz="1400" dirty="0"/>
          </a:p>
        </p:txBody>
      </p:sp>
      <p:sp>
        <p:nvSpPr>
          <p:cNvPr id="7" name="Text 5"/>
          <p:cNvSpPr txBox="1"/>
          <p:nvPr/>
        </p:nvSpPr>
        <p:spPr>
          <a:xfrm>
            <a:off x="548640" y="2185416"/>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V3</a:t>
            </a:r>
            <a:endParaRPr lang="en-US" sz="1300" dirty="0"/>
          </a:p>
        </p:txBody>
      </p:sp>
      <p:sp>
        <p:nvSpPr>
          <p:cNvPr id="8" name="Text 6"/>
          <p:cNvSpPr txBox="1"/>
          <p:nvPr/>
        </p:nvSpPr>
        <p:spPr>
          <a:xfrm>
            <a:off x="1143000" y="2185416"/>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U8 패드가 도면에 없음</a:t>
            </a:r>
            <a:endParaRPr lang="en-US" sz="1400" dirty="0"/>
          </a:p>
        </p:txBody>
      </p:sp>
      <p:sp>
        <p:nvSpPr>
          <p:cNvPr id="9" name="miss-V3"/>
          <p:cNvSpPr/>
          <p:nvPr/>
        </p:nvSpPr>
        <p:spPr>
          <a:xfrm>
            <a:off x="5669280" y="2203704"/>
            <a:ext cx="640080" cy="292608"/>
          </a:xfrm>
          <a:prstGeom prst="roundRect">
            <a:avLst>
              <a:gd name="adj" fmla="val 15625"/>
            </a:avLst>
          </a:prstGeom>
          <a:solidFill>
            <a:srgbClr val="D2551F"/>
          </a:solidFill>
          <a:ln/>
        </p:spPr>
      </p:sp>
      <p:sp>
        <p:nvSpPr>
          <p:cNvPr id="10" name="Text 8"/>
          <p:cNvSpPr txBox="1"/>
          <p:nvPr/>
        </p:nvSpPr>
        <p:spPr>
          <a:xfrm>
            <a:off x="5669280" y="2203704"/>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11" name="Text 9"/>
          <p:cNvSpPr txBox="1"/>
          <p:nvPr/>
        </p:nvSpPr>
        <p:spPr>
          <a:xfrm>
            <a:off x="548640" y="2615184"/>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V4</a:t>
            </a:r>
            <a:endParaRPr lang="en-US" sz="1300" dirty="0"/>
          </a:p>
        </p:txBody>
      </p:sp>
      <p:sp>
        <p:nvSpPr>
          <p:cNvPr id="12" name="Text 10"/>
          <p:cNvSpPr txBox="1"/>
          <p:nvPr/>
        </p:nvSpPr>
        <p:spPr>
          <a:xfrm>
            <a:off x="1143000" y="2615184"/>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+5V_CMP 에 공급원이 없음 (가장 무거운 건)</a:t>
            </a:r>
            <a:endParaRPr lang="en-US" sz="1400" dirty="0"/>
          </a:p>
        </p:txBody>
      </p:sp>
      <p:sp>
        <p:nvSpPr>
          <p:cNvPr id="13" name="miss-V4"/>
          <p:cNvSpPr/>
          <p:nvPr/>
        </p:nvSpPr>
        <p:spPr>
          <a:xfrm>
            <a:off x="5669280" y="2633472"/>
            <a:ext cx="640080" cy="292608"/>
          </a:xfrm>
          <a:prstGeom prst="roundRect">
            <a:avLst>
              <a:gd name="adj" fmla="val 15625"/>
            </a:avLst>
          </a:prstGeom>
          <a:solidFill>
            <a:srgbClr val="D2551F"/>
          </a:solidFill>
          <a:ln/>
        </p:spPr>
      </p:sp>
      <p:sp>
        <p:nvSpPr>
          <p:cNvPr id="14" name="Text 12"/>
          <p:cNvSpPr txBox="1"/>
          <p:nvPr/>
        </p:nvSpPr>
        <p:spPr>
          <a:xfrm>
            <a:off x="5669280" y="2633472"/>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15" name="Text 13"/>
          <p:cNvSpPr txBox="1"/>
          <p:nvPr/>
        </p:nvSpPr>
        <p:spPr>
          <a:xfrm>
            <a:off x="548640" y="3044952"/>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V5</a:t>
            </a:r>
            <a:endParaRPr lang="en-US" sz="1300" dirty="0"/>
          </a:p>
        </p:txBody>
      </p:sp>
      <p:sp>
        <p:nvSpPr>
          <p:cNvPr id="16" name="Text 14"/>
          <p:cNvSpPr txBox="1"/>
          <p:nvPr/>
        </p:nvSpPr>
        <p:spPr>
          <a:xfrm>
            <a:off x="1143000" y="3044952"/>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+3V3_CMP 바이패스 커패시터 없음</a:t>
            </a:r>
            <a:endParaRPr lang="en-US" sz="1400" dirty="0"/>
          </a:p>
        </p:txBody>
      </p:sp>
      <p:sp>
        <p:nvSpPr>
          <p:cNvPr id="17" name="miss-V5"/>
          <p:cNvSpPr/>
          <p:nvPr/>
        </p:nvSpPr>
        <p:spPr>
          <a:xfrm>
            <a:off x="5669280" y="3063240"/>
            <a:ext cx="640080" cy="292608"/>
          </a:xfrm>
          <a:prstGeom prst="roundRect">
            <a:avLst>
              <a:gd name="adj" fmla="val 15625"/>
            </a:avLst>
          </a:prstGeom>
          <a:solidFill>
            <a:srgbClr val="D2551F"/>
          </a:solidFill>
          <a:ln/>
        </p:spPr>
      </p:sp>
      <p:sp>
        <p:nvSpPr>
          <p:cNvPr id="18" name="Text 16"/>
          <p:cNvSpPr txBox="1"/>
          <p:nvPr/>
        </p:nvSpPr>
        <p:spPr>
          <a:xfrm>
            <a:off x="5669280" y="3063240"/>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19" name="Text 17"/>
          <p:cNvSpPr txBox="1"/>
          <p:nvPr/>
        </p:nvSpPr>
        <p:spPr>
          <a:xfrm>
            <a:off x="548640" y="3474720"/>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V6</a:t>
            </a:r>
            <a:endParaRPr lang="en-US" sz="1300" dirty="0"/>
          </a:p>
        </p:txBody>
      </p:sp>
      <p:sp>
        <p:nvSpPr>
          <p:cNvPr id="20" name="Text 18"/>
          <p:cNvSpPr txBox="1"/>
          <p:nvPr/>
        </p:nvSpPr>
        <p:spPr>
          <a:xfrm>
            <a:off x="1143000" y="3474720"/>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미사용 비교기 출력이 불확정</a:t>
            </a:r>
            <a:endParaRPr lang="en-US" sz="1400" dirty="0"/>
          </a:p>
        </p:txBody>
      </p:sp>
      <p:sp>
        <p:nvSpPr>
          <p:cNvPr id="21" name="miss-V6"/>
          <p:cNvSpPr/>
          <p:nvPr/>
        </p:nvSpPr>
        <p:spPr>
          <a:xfrm>
            <a:off x="5669280" y="3493008"/>
            <a:ext cx="640080" cy="292608"/>
          </a:xfrm>
          <a:prstGeom prst="roundRect">
            <a:avLst>
              <a:gd name="adj" fmla="val 15625"/>
            </a:avLst>
          </a:prstGeom>
          <a:solidFill>
            <a:srgbClr val="D2551F"/>
          </a:solidFill>
          <a:ln/>
        </p:spPr>
      </p:sp>
      <p:sp>
        <p:nvSpPr>
          <p:cNvPr id="22" name="Text 20"/>
          <p:cNvSpPr txBox="1"/>
          <p:nvPr/>
        </p:nvSpPr>
        <p:spPr>
          <a:xfrm>
            <a:off x="5669280" y="3493008"/>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23" name="Text 21"/>
          <p:cNvSpPr txBox="1"/>
          <p:nvPr/>
        </p:nvSpPr>
        <p:spPr>
          <a:xfrm>
            <a:off x="548640" y="3904488"/>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V7</a:t>
            </a:r>
            <a:endParaRPr lang="en-US" sz="1300" dirty="0"/>
          </a:p>
        </p:txBody>
      </p:sp>
      <p:sp>
        <p:nvSpPr>
          <p:cNvPr id="24" name="Text 22"/>
          <p:cNvSpPr txBox="1"/>
          <p:nvPr/>
        </p:nvSpPr>
        <p:spPr>
          <a:xfrm>
            <a:off x="1143000" y="3904488"/>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테스트포인트 번호가 정본과 전부 다름</a:t>
            </a:r>
            <a:endParaRPr lang="en-US" sz="1400" dirty="0"/>
          </a:p>
        </p:txBody>
      </p:sp>
      <p:sp>
        <p:nvSpPr>
          <p:cNvPr id="25" name="miss-V7"/>
          <p:cNvSpPr/>
          <p:nvPr/>
        </p:nvSpPr>
        <p:spPr>
          <a:xfrm>
            <a:off x="5669280" y="3922776"/>
            <a:ext cx="640080" cy="292608"/>
          </a:xfrm>
          <a:prstGeom prst="roundRect">
            <a:avLst>
              <a:gd name="adj" fmla="val 15625"/>
            </a:avLst>
          </a:prstGeom>
          <a:solidFill>
            <a:srgbClr val="D2551F"/>
          </a:solidFill>
          <a:ln/>
        </p:spPr>
      </p:sp>
      <p:sp>
        <p:nvSpPr>
          <p:cNvPr id="26" name="Text 24"/>
          <p:cNvSpPr txBox="1"/>
          <p:nvPr/>
        </p:nvSpPr>
        <p:spPr>
          <a:xfrm>
            <a:off x="5669280" y="3922776"/>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27" name="Text 25"/>
          <p:cNvSpPr txBox="1"/>
          <p:nvPr/>
        </p:nvSpPr>
        <p:spPr>
          <a:xfrm>
            <a:off x="548640" y="4334256"/>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V8</a:t>
            </a:r>
            <a:endParaRPr lang="en-US" sz="1300" dirty="0"/>
          </a:p>
        </p:txBody>
      </p:sp>
      <p:sp>
        <p:nvSpPr>
          <p:cNvPr id="28" name="Text 26"/>
          <p:cNvSpPr txBox="1"/>
          <p:nvPr/>
        </p:nvSpPr>
        <p:spPr>
          <a:xfrm>
            <a:off x="1143000" y="4334256"/>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모니터 LED 구동 방향이 정본과 다름</a:t>
            </a:r>
            <a:endParaRPr lang="en-US" sz="1400" dirty="0"/>
          </a:p>
        </p:txBody>
      </p:sp>
      <p:sp>
        <p:nvSpPr>
          <p:cNvPr id="29" name="Text 27"/>
          <p:cNvSpPr txBox="1"/>
          <p:nvPr/>
        </p:nvSpPr>
        <p:spPr>
          <a:xfrm>
            <a:off x="548640" y="4764024"/>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V9</a:t>
            </a:r>
            <a:endParaRPr lang="en-US" sz="1300" dirty="0"/>
          </a:p>
        </p:txBody>
      </p:sp>
      <p:sp>
        <p:nvSpPr>
          <p:cNvPr id="30" name="Text 28"/>
          <p:cNvSpPr txBox="1"/>
          <p:nvPr/>
        </p:nvSpPr>
        <p:spPr>
          <a:xfrm>
            <a:off x="1143000" y="4764024"/>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JP_V 가 어느 파일에도 없음</a:t>
            </a:r>
            <a:endParaRPr lang="en-US" sz="1400" dirty="0"/>
          </a:p>
        </p:txBody>
      </p:sp>
      <p:sp>
        <p:nvSpPr>
          <p:cNvPr id="31" name="miss-V9"/>
          <p:cNvSpPr/>
          <p:nvPr/>
        </p:nvSpPr>
        <p:spPr>
          <a:xfrm>
            <a:off x="5669280" y="4782312"/>
            <a:ext cx="640080" cy="292608"/>
          </a:xfrm>
          <a:prstGeom prst="roundRect">
            <a:avLst>
              <a:gd name="adj" fmla="val 15625"/>
            </a:avLst>
          </a:prstGeom>
          <a:solidFill>
            <a:srgbClr val="D2551F"/>
          </a:solidFill>
          <a:ln/>
        </p:spPr>
      </p:sp>
      <p:sp>
        <p:nvSpPr>
          <p:cNvPr id="32" name="Text 30"/>
          <p:cNvSpPr txBox="1"/>
          <p:nvPr/>
        </p:nvSpPr>
        <p:spPr>
          <a:xfrm>
            <a:off x="5669280" y="4782312"/>
            <a:ext cx="6400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빠짐</a:t>
            </a:r>
            <a:endParaRPr lang="en-US" sz="1100" dirty="0"/>
          </a:p>
        </p:txBody>
      </p:sp>
      <p:sp>
        <p:nvSpPr>
          <p:cNvPr id="33" name="Text 31"/>
          <p:cNvSpPr txBox="1"/>
          <p:nvPr/>
        </p:nvSpPr>
        <p:spPr>
          <a:xfrm>
            <a:off x="548640" y="5193792"/>
            <a:ext cx="548640" cy="365760"/>
          </a:xfrm>
          <a:prstGeom prst="rect">
            <a:avLst/>
          </a:prstGeom>
          <a:noFill/>
          <a:ln/>
        </p:spPr>
        <p:txBody>
          <a:bodyPr wrap="square" lIns="0" tIns="0" rIns="0" bIns="0" rtlCol="0" anchor="t"/>
          <a:lstStyle/>
          <a:p>
            <a:pPr indent="0" marL="0">
              <a:buNone/>
            </a:pPr>
            <a:r>
              <a:rPr lang="en-US" sz="1300" b="1" dirty="0">
                <a:solidFill>
                  <a:srgbClr val="5B6168"/>
                </a:solidFill>
                <a:latin typeface="Consolas" pitchFamily="34" charset="0"/>
                <a:ea typeface="Consolas" pitchFamily="34" charset="-122"/>
                <a:cs typeface="Consolas" pitchFamily="34" charset="-120"/>
              </a:rPr>
              <a:t>V10</a:t>
            </a:r>
            <a:endParaRPr lang="en-US" sz="1300" dirty="0"/>
          </a:p>
        </p:txBody>
      </p:sp>
      <p:sp>
        <p:nvSpPr>
          <p:cNvPr id="34" name="Text 32"/>
          <p:cNvSpPr txBox="1"/>
          <p:nvPr/>
        </p:nvSpPr>
        <p:spPr>
          <a:xfrm>
            <a:off x="1143000" y="5193792"/>
            <a:ext cx="4480560" cy="36576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지그 절차서의 점퍼 도식이 전기적으로 불성립</a:t>
            </a:r>
            <a:endParaRPr lang="en-US" sz="1400" dirty="0"/>
          </a:p>
        </p:txBody>
      </p:sp>
      <p:sp>
        <p:nvSpPr>
          <p:cNvPr id="35" name="Text 33"/>
          <p:cNvSpPr txBox="1"/>
          <p:nvPr/>
        </p:nvSpPr>
        <p:spPr>
          <a:xfrm>
            <a:off x="548640" y="5669280"/>
            <a:ext cx="5852160" cy="548640"/>
          </a:xfrm>
          <a:prstGeom prst="rect">
            <a:avLst/>
          </a:prstGeom>
          <a:noFill/>
          <a:ln/>
        </p:spPr>
        <p:txBody>
          <a:bodyPr wrap="square" lIns="0" tIns="0" rIns="0" bIns="0" rtlCol="0" anchor="t"/>
          <a:lstStyle/>
          <a:p>
            <a:pPr indent="0" marL="0">
              <a:buNone/>
            </a:pPr>
            <a:r>
              <a:rPr lang="en-US" sz="1200" dirty="0">
                <a:solidFill>
                  <a:srgbClr val="5B6168"/>
                </a:solidFill>
                <a:latin typeface="Malgun Gothic" pitchFamily="34" charset="0"/>
                <a:ea typeface="Malgun Gothic" pitchFamily="34" charset="-122"/>
                <a:cs typeface="Malgun Gothic" pitchFamily="34" charset="-120"/>
              </a:rPr>
              <a:t>10건 중 6건이 빠져 있는 것이었다. 회로도 착수 전에는 BOM 정본 파일이 0행이고 지정자가 세 문서에 흩어져 충돌하던 것도 먼저 찾았다.</a:t>
            </a:r>
            <a:endParaRPr lang="en-US" sz="1200" dirty="0"/>
          </a:p>
        </p:txBody>
      </p:sp>
      <p:sp>
        <p:nvSpPr>
          <p:cNvPr id="36" name="checker-output"/>
          <p:cNvSpPr/>
          <p:nvPr/>
        </p:nvSpPr>
        <p:spPr>
          <a:xfrm>
            <a:off x="6766560" y="1325880"/>
            <a:ext cx="4876495" cy="4526280"/>
          </a:xfrm>
          <a:prstGeom prst="roundRect">
            <a:avLst>
              <a:gd name="adj" fmla="val 1616"/>
            </a:avLst>
          </a:prstGeom>
          <a:solidFill>
            <a:srgbClr val="17202A"/>
          </a:solidFill>
          <a:ln/>
        </p:spPr>
      </p:sp>
      <p:sp>
        <p:nvSpPr>
          <p:cNvPr id="37" name="Text 35"/>
          <p:cNvSpPr txBox="1"/>
          <p:nvPr/>
        </p:nvSpPr>
        <p:spPr>
          <a:xfrm>
            <a:off x="6995160" y="1463040"/>
            <a:ext cx="4419295" cy="320040"/>
          </a:xfrm>
          <a:prstGeom prst="rect">
            <a:avLst/>
          </a:prstGeom>
          <a:noFill/>
          <a:ln/>
        </p:spPr>
        <p:txBody>
          <a:bodyPr wrap="square" lIns="0" tIns="0" rIns="0" bIns="0" rtlCol="0" anchor="t"/>
          <a:lstStyle/>
          <a:p>
            <a:pPr indent="0" marL="0">
              <a:buNone/>
            </a:pPr>
            <a:r>
              <a:rPr lang="en-US" sz="1200" dirty="0">
                <a:solidFill>
                  <a:srgbClr val="AEB6BF"/>
                </a:solidFill>
                <a:latin typeface="Consolas" pitchFamily="34" charset="0"/>
                <a:ea typeface="Consolas" pitchFamily="34" charset="-122"/>
                <a:cs typeface="Consolas" pitchFamily="34" charset="-120"/>
              </a:rPr>
              <a:t>$ python hw/kicad/check_netlist.py</a:t>
            </a:r>
            <a:endParaRPr lang="en-US" sz="1200" dirty="0"/>
          </a:p>
        </p:txBody>
      </p:sp>
      <p:sp>
        <p:nvSpPr>
          <p:cNvPr id="38" name="Text 36"/>
          <p:cNvSpPr txBox="1"/>
          <p:nvPr/>
        </p:nvSpPr>
        <p:spPr>
          <a:xfrm>
            <a:off x="6995160" y="1874520"/>
            <a:ext cx="4419295" cy="3291840"/>
          </a:xfrm>
          <a:prstGeom prst="rect">
            <a:avLst/>
          </a:prstGeom>
          <a:noFill/>
          <a:ln/>
        </p:spPr>
        <p:txBody>
          <a:bodyPr wrap="square" lIns="0" tIns="0" rIns="0" bIns="0" rtlCol="0" anchor="t"/>
          <a:lstStyle/>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지정자 대조   회로도 155 / BOM 157 (보드 미배치 2)</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고아 네트     0 건 (네트 127 개)</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급전 추적     로컬 레일 8 개 전부 R0_* 1개씩</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커넥터 배정   SPEC 6.1 대조 9 개</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Pmod 전원    VCC 패드 [11, 12] 비었음</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유닛 조회     U1 U10 U2 U4 U9 + U5 6게이트</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디커플링      노드 8 개 전부 커패시터 보유</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전압 격리     FPGA 커넥터 핀 36 개</a:t>
            </a:r>
            <a:endParaRPr lang="en-US" sz="1200" dirty="0"/>
          </a:p>
          <a:p>
            <a:pPr indent="0" marL="0">
              <a:spcAft>
                <a:spcPts val="400"/>
              </a:spcAft>
              <a:buNone/>
            </a:pPr>
            <a:r>
              <a:rPr lang="en-US" sz="1200" dirty="0">
                <a:solidFill>
                  <a:srgbClr val="E6EDF3"/>
                </a:solidFill>
                <a:latin typeface="Consolas" pitchFamily="34" charset="0"/>
                <a:ea typeface="Consolas" pitchFamily="34" charset="-122"/>
                <a:cs typeface="Consolas" pitchFamily="34" charset="-120"/>
              </a:rPr>
              <a:t>히스테리시스  비교기 3 조 R_fb/R_in = 15.0</a:t>
            </a:r>
            <a:endParaRPr lang="en-US" sz="1200" dirty="0"/>
          </a:p>
        </p:txBody>
      </p:sp>
      <p:sp>
        <p:nvSpPr>
          <p:cNvPr id="39" name="Text 37"/>
          <p:cNvSpPr txBox="1"/>
          <p:nvPr/>
        </p:nvSpPr>
        <p:spPr>
          <a:xfrm>
            <a:off x="6995160" y="5257800"/>
            <a:ext cx="4419295" cy="365760"/>
          </a:xfrm>
          <a:prstGeom prst="rect">
            <a:avLst/>
          </a:prstGeom>
          <a:noFill/>
          <a:ln/>
        </p:spPr>
        <p:txBody>
          <a:bodyPr wrap="square" lIns="0" tIns="0" rIns="0" bIns="0" rtlCol="0" anchor="t"/>
          <a:lstStyle/>
          <a:p>
            <a:pPr indent="0" marL="0">
              <a:buNone/>
            </a:pPr>
            <a:r>
              <a:rPr lang="en-US" sz="1400" b="1" dirty="0">
                <a:solidFill>
                  <a:srgbClr val="7EE2A8"/>
                </a:solidFill>
                <a:latin typeface="Consolas" pitchFamily="34" charset="0"/>
                <a:ea typeface="Consolas" pitchFamily="34" charset="-122"/>
                <a:cs typeface="Consolas" pitchFamily="34" charset="-120"/>
              </a:rPr>
              <a:t>전 항목 통과</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되돌릴 수 없는 결정 전에 수치로 확인했다</a:t>
            </a:r>
            <a:endParaRPr lang="en-US" sz="3000" dirty="0"/>
          </a:p>
        </p:txBody>
      </p:sp>
      <p:sp>
        <p:nvSpPr>
          <p:cNvPr id="3" name="decision-0"/>
          <p:cNvSpPr/>
          <p:nvPr/>
        </p:nvSpPr>
        <p:spPr>
          <a:xfrm>
            <a:off x="548640" y="1371600"/>
            <a:ext cx="3515258" cy="3931920"/>
          </a:xfrm>
          <a:prstGeom prst="roundRect">
            <a:avLst>
              <a:gd name="adj" fmla="val 2081"/>
            </a:avLst>
          </a:prstGeom>
          <a:solidFill>
            <a:srgbClr val="F3F5F7"/>
          </a:solidFill>
          <a:ln/>
        </p:spPr>
      </p:sp>
      <p:sp>
        <p:nvSpPr>
          <p:cNvPr id="4" name="badge-19"/>
          <p:cNvSpPr/>
          <p:nvPr/>
        </p:nvSpPr>
        <p:spPr>
          <a:xfrm>
            <a:off x="822960" y="1600200"/>
            <a:ext cx="457200" cy="457200"/>
          </a:xfrm>
          <a:prstGeom prst="ellipse">
            <a:avLst/>
          </a:prstGeom>
          <a:solidFill>
            <a:srgbClr val="2A78D6"/>
          </a:solidFill>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6" name="Text 4"/>
          <p:cNvSpPr txBox="1"/>
          <p:nvPr/>
        </p:nvSpPr>
        <p:spPr>
          <a:xfrm>
            <a:off x="1417320" y="1645920"/>
            <a:ext cx="2417978" cy="411480"/>
          </a:xfrm>
          <a:prstGeom prst="rect">
            <a:avLst/>
          </a:prstGeom>
          <a:noFill/>
          <a:ln/>
        </p:spPr>
        <p:txBody>
          <a:bodyPr wrap="square" lIns="0" tIns="0" rIns="0" bIns="0" rtlCol="0" anchor="t"/>
          <a:lstStyle/>
          <a:p>
            <a:pPr indent="0" marL="0">
              <a:buNone/>
            </a:pPr>
            <a:r>
              <a:rPr lang="en-US" sz="1700" b="1" dirty="0">
                <a:solidFill>
                  <a:srgbClr val="1F2328"/>
                </a:solidFill>
                <a:latin typeface="Malgun Gothic" pitchFamily="34" charset="0"/>
                <a:ea typeface="Malgun Gothic" pitchFamily="34" charset="-122"/>
                <a:cs typeface="Malgun Gothic" pitchFamily="34" charset="-120"/>
              </a:rPr>
              <a:t>기판 크기</a:t>
            </a:r>
            <a:endParaRPr lang="en-US" sz="1700" dirty="0"/>
          </a:p>
        </p:txBody>
      </p:sp>
      <p:sp>
        <p:nvSpPr>
          <p:cNvPr id="7" name="Text 5"/>
          <p:cNvSpPr txBox="1"/>
          <p:nvPr/>
        </p:nvSpPr>
        <p:spPr>
          <a:xfrm>
            <a:off x="822960" y="2286000"/>
            <a:ext cx="2966618" cy="274320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부품 138개의 코트야드를 스크립트로 합산해 6,447 mm². 100×100 은 충전율 64.5% 로 배선 여유가 부족했고, 160×100 은 13개가 자리를 못 잡았다. 세움 배치로 31.6%</a:t>
            </a:r>
            <a:endParaRPr lang="en-US" sz="1400" dirty="0"/>
          </a:p>
        </p:txBody>
      </p:sp>
      <p:sp>
        <p:nvSpPr>
          <p:cNvPr id="8" name="Text 6"/>
          <p:cNvSpPr txBox="1"/>
          <p:nvPr/>
        </p:nvSpPr>
        <p:spPr>
          <a:xfrm>
            <a:off x="822960" y="4892040"/>
            <a:ext cx="2966618" cy="274320"/>
          </a:xfrm>
          <a:prstGeom prst="rect">
            <a:avLst/>
          </a:prstGeom>
          <a:noFill/>
          <a:ln/>
        </p:spPr>
        <p:txBody>
          <a:bodyPr wrap="square" lIns="0" tIns="0" rIns="0" bIns="0" rtlCol="0" anchor="t"/>
          <a:lstStyle/>
          <a:p>
            <a:pPr indent="0" marL="0">
              <a:buNone/>
            </a:pPr>
            <a:r>
              <a:rPr lang="en-US" sz="1100" dirty="0">
                <a:solidFill>
                  <a:srgbClr val="5B6168"/>
                </a:solidFill>
                <a:latin typeface="Consolas" pitchFamily="34" charset="0"/>
                <a:ea typeface="Consolas" pitchFamily="34" charset="-122"/>
                <a:cs typeface="Consolas" pitchFamily="34" charset="-120"/>
              </a:rPr>
              <a:t>W24_layout_area_budget.md</a:t>
            </a:r>
            <a:endParaRPr lang="en-US" sz="1100" dirty="0"/>
          </a:p>
        </p:txBody>
      </p:sp>
      <p:sp>
        <p:nvSpPr>
          <p:cNvPr id="9" name="decision-1"/>
          <p:cNvSpPr/>
          <p:nvPr/>
        </p:nvSpPr>
        <p:spPr>
          <a:xfrm>
            <a:off x="4338218" y="1371600"/>
            <a:ext cx="3515258" cy="3931920"/>
          </a:xfrm>
          <a:prstGeom prst="roundRect">
            <a:avLst>
              <a:gd name="adj" fmla="val 2081"/>
            </a:avLst>
          </a:prstGeom>
          <a:solidFill>
            <a:srgbClr val="F3F5F7"/>
          </a:solidFill>
          <a:ln/>
        </p:spPr>
      </p:sp>
      <p:sp>
        <p:nvSpPr>
          <p:cNvPr id="10" name="badge-20"/>
          <p:cNvSpPr/>
          <p:nvPr/>
        </p:nvSpPr>
        <p:spPr>
          <a:xfrm>
            <a:off x="4612538" y="1600200"/>
            <a:ext cx="457200" cy="457200"/>
          </a:xfrm>
          <a:prstGeom prst="ellipse">
            <a:avLst/>
          </a:prstGeom>
          <a:solidFill>
            <a:srgbClr val="2A78D6"/>
          </a:solidFill>
          <a:ln/>
        </p:spPr>
      </p:sp>
      <p:sp>
        <p:nvSpPr>
          <p:cNvPr id="11" name="Text 9"/>
          <p:cNvSpPr txBox="1"/>
          <p:nvPr/>
        </p:nvSpPr>
        <p:spPr>
          <a:xfrm>
            <a:off x="4612538"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2" name="Text 10"/>
          <p:cNvSpPr txBox="1"/>
          <p:nvPr/>
        </p:nvSpPr>
        <p:spPr>
          <a:xfrm>
            <a:off x="5206898" y="1645920"/>
            <a:ext cx="2417978" cy="411480"/>
          </a:xfrm>
          <a:prstGeom prst="rect">
            <a:avLst/>
          </a:prstGeom>
          <a:noFill/>
          <a:ln/>
        </p:spPr>
        <p:txBody>
          <a:bodyPr wrap="square" lIns="0" tIns="0" rIns="0" bIns="0" rtlCol="0" anchor="t"/>
          <a:lstStyle/>
          <a:p>
            <a:pPr indent="0" marL="0">
              <a:buNone/>
            </a:pPr>
            <a:r>
              <a:rPr lang="en-US" sz="1700" b="1" dirty="0">
                <a:solidFill>
                  <a:srgbClr val="1F2328"/>
                </a:solidFill>
                <a:latin typeface="Malgun Gothic" pitchFamily="34" charset="0"/>
                <a:ea typeface="Malgun Gothic" pitchFamily="34" charset="-122"/>
                <a:cs typeface="Malgun Gothic" pitchFamily="34" charset="-120"/>
              </a:rPr>
              <a:t>시뮬레이션 대상 선정</a:t>
            </a:r>
            <a:endParaRPr lang="en-US" sz="1700" dirty="0"/>
          </a:p>
        </p:txBody>
      </p:sp>
      <p:sp>
        <p:nvSpPr>
          <p:cNvPr id="13" name="Text 11"/>
          <p:cNvSpPr txBox="1"/>
          <p:nvPr/>
        </p:nvSpPr>
        <p:spPr>
          <a:xfrm>
            <a:off x="4612538" y="2286000"/>
            <a:ext cx="2966618" cy="274320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PCB 발주 전에 확정해야 하고 발주 후 되돌릴 수 없는 것만 LTspice 로 확인: 기준전압 팔로워, P 경로 RC 필터, 전원 인러시(새로 찾음)</a:t>
            </a:r>
            <a:endParaRPr lang="en-US" sz="1400" dirty="0"/>
          </a:p>
        </p:txBody>
      </p:sp>
      <p:sp>
        <p:nvSpPr>
          <p:cNvPr id="14" name="Text 12"/>
          <p:cNvSpPr txBox="1"/>
          <p:nvPr/>
        </p:nvSpPr>
        <p:spPr>
          <a:xfrm>
            <a:off x="4612538" y="4892040"/>
            <a:ext cx="2966618" cy="274320"/>
          </a:xfrm>
          <a:prstGeom prst="rect">
            <a:avLst/>
          </a:prstGeom>
          <a:noFill/>
          <a:ln/>
        </p:spPr>
        <p:txBody>
          <a:bodyPr wrap="square" lIns="0" tIns="0" rIns="0" bIns="0" rtlCol="0" anchor="t"/>
          <a:lstStyle/>
          <a:p>
            <a:pPr indent="0" marL="0">
              <a:buNone/>
            </a:pPr>
            <a:r>
              <a:rPr lang="en-US" sz="1100" dirty="0">
                <a:solidFill>
                  <a:srgbClr val="5B6168"/>
                </a:solidFill>
                <a:latin typeface="Consolas" pitchFamily="34" charset="0"/>
                <a:ea typeface="Consolas" pitchFamily="34" charset="-122"/>
                <a:cs typeface="Consolas" pitchFamily="34" charset="-120"/>
              </a:rPr>
              <a:t>W52_design_verification.md</a:t>
            </a:r>
            <a:endParaRPr lang="en-US" sz="1100" dirty="0"/>
          </a:p>
        </p:txBody>
      </p:sp>
      <p:sp>
        <p:nvSpPr>
          <p:cNvPr id="15" name="decision-2"/>
          <p:cNvSpPr/>
          <p:nvPr/>
        </p:nvSpPr>
        <p:spPr>
          <a:xfrm>
            <a:off x="8127797" y="1371600"/>
            <a:ext cx="3515258" cy="3931920"/>
          </a:xfrm>
          <a:prstGeom prst="roundRect">
            <a:avLst>
              <a:gd name="adj" fmla="val 2081"/>
            </a:avLst>
          </a:prstGeom>
          <a:solidFill>
            <a:srgbClr val="F3F5F7"/>
          </a:solidFill>
          <a:ln/>
        </p:spPr>
      </p:sp>
      <p:sp>
        <p:nvSpPr>
          <p:cNvPr id="16" name="badge-21"/>
          <p:cNvSpPr/>
          <p:nvPr/>
        </p:nvSpPr>
        <p:spPr>
          <a:xfrm>
            <a:off x="8402117" y="1600200"/>
            <a:ext cx="457200" cy="457200"/>
          </a:xfrm>
          <a:prstGeom prst="ellipse">
            <a:avLst/>
          </a:prstGeom>
          <a:solidFill>
            <a:srgbClr val="2A78D6"/>
          </a:solidFill>
          <a:ln/>
        </p:spPr>
      </p:sp>
      <p:sp>
        <p:nvSpPr>
          <p:cNvPr id="17" name="Text 15"/>
          <p:cNvSpPr txBox="1"/>
          <p:nvPr/>
        </p:nvSpPr>
        <p:spPr>
          <a:xfrm>
            <a:off x="8402117"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8" name="Text 16"/>
          <p:cNvSpPr txBox="1"/>
          <p:nvPr/>
        </p:nvSpPr>
        <p:spPr>
          <a:xfrm>
            <a:off x="8996477" y="1645920"/>
            <a:ext cx="2417978" cy="411480"/>
          </a:xfrm>
          <a:prstGeom prst="rect">
            <a:avLst/>
          </a:prstGeom>
          <a:noFill/>
          <a:ln/>
        </p:spPr>
        <p:txBody>
          <a:bodyPr wrap="square" lIns="0" tIns="0" rIns="0" bIns="0" rtlCol="0" anchor="t"/>
          <a:lstStyle/>
          <a:p>
            <a:pPr indent="0" marL="0">
              <a:buNone/>
            </a:pPr>
            <a:r>
              <a:rPr lang="en-US" sz="1700" b="1" dirty="0">
                <a:solidFill>
                  <a:srgbClr val="1F2328"/>
                </a:solidFill>
                <a:latin typeface="Malgun Gothic" pitchFamily="34" charset="0"/>
                <a:ea typeface="Malgun Gothic" pitchFamily="34" charset="-122"/>
                <a:cs typeface="Malgun Gothic" pitchFamily="34" charset="-120"/>
              </a:rPr>
              <a:t>완료 조건이 대용치였다</a:t>
            </a:r>
            <a:endParaRPr lang="en-US" sz="1700" dirty="0"/>
          </a:p>
        </p:txBody>
      </p:sp>
      <p:sp>
        <p:nvSpPr>
          <p:cNvPr id="19" name="Text 17"/>
          <p:cNvSpPr txBox="1"/>
          <p:nvPr/>
        </p:nvSpPr>
        <p:spPr>
          <a:xfrm>
            <a:off x="8402117" y="2286000"/>
            <a:ext cx="2966618" cy="2743200"/>
          </a:xfrm>
          <a:prstGeom prst="rect">
            <a:avLst/>
          </a:prstGeom>
          <a:noFill/>
          <a:ln/>
        </p:spPr>
        <p:txBody>
          <a:bodyPr wrap="square" lIns="0" tIns="0" rIns="0" bIns="0" rtlCol="0" anchor="t"/>
          <a:lstStyle/>
          <a:p>
            <a:pPr indent="0" marL="0">
              <a:buNone/>
            </a:pPr>
            <a:r>
              <a:rPr lang="en-US" sz="1400" dirty="0">
                <a:solidFill>
                  <a:srgbClr val="1F2328"/>
                </a:solidFill>
                <a:latin typeface="Malgun Gothic" pitchFamily="34" charset="0"/>
                <a:ea typeface="Malgun Gothic" pitchFamily="34" charset="-122"/>
                <a:cs typeface="Malgun Gothic" pitchFamily="34" charset="-120"/>
              </a:rPr>
              <a:t>시뮬레이션 모델의 게이트 저항(100 Ω)이 BOM(330 Ω)과 달랐다. 330 Ω 으로 다시 돌리니 상승 3.008 µs 로 기존 조건(주기의 1%)을 넘었다. 실제 요구인 손실은 0.672 mW 로 기준(0.3 W)보다 훨씬 작아, 330 Ω 을 유지하고 완료 조건을 손실 기준으로 바꿨다.</a:t>
            </a:r>
            <a:endParaRPr lang="en-US" sz="1400" dirty="0"/>
          </a:p>
        </p:txBody>
      </p:sp>
      <p:sp>
        <p:nvSpPr>
          <p:cNvPr id="20" name="Text 18"/>
          <p:cNvSpPr txBox="1"/>
          <p:nvPr/>
        </p:nvSpPr>
        <p:spPr>
          <a:xfrm>
            <a:off x="8402117" y="4892040"/>
            <a:ext cx="2966618" cy="274320"/>
          </a:xfrm>
          <a:prstGeom prst="rect">
            <a:avLst/>
          </a:prstGeom>
          <a:noFill/>
          <a:ln/>
        </p:spPr>
        <p:txBody>
          <a:bodyPr wrap="square" lIns="0" tIns="0" rIns="0" bIns="0" rtlCol="0" anchor="t"/>
          <a:lstStyle/>
          <a:p>
            <a:pPr indent="0" marL="0">
              <a:buNone/>
            </a:pPr>
            <a:r>
              <a:rPr lang="en-US" sz="1100" dirty="0">
                <a:solidFill>
                  <a:srgbClr val="5B6168"/>
                </a:solidFill>
                <a:latin typeface="Consolas" pitchFamily="34" charset="0"/>
                <a:ea typeface="Consolas" pitchFamily="34" charset="-122"/>
                <a:cs typeface="Consolas" pitchFamily="34" charset="-120"/>
              </a:rPr>
              <a:t>DECISIONS.md DEC-028</a:t>
            </a:r>
            <a:endParaRPr lang="en-US" sz="1100" dirty="0"/>
          </a:p>
        </p:txBody>
      </p:sp>
      <p:sp>
        <p:nvSpPr>
          <p:cNvPr id="21" name="Text 19"/>
          <p:cNvSpPr txBox="1"/>
          <p:nvPr/>
        </p:nvSpPr>
        <p:spPr>
          <a:xfrm>
            <a:off x="548640" y="5532120"/>
            <a:ext cx="11094415" cy="365760"/>
          </a:xfrm>
          <a:prstGeom prst="rect">
            <a:avLst/>
          </a:prstGeom>
          <a:noFill/>
          <a:ln/>
        </p:spPr>
        <p:txBody>
          <a:bodyPr wrap="square" lIns="0" tIns="0" rIns="0" bIns="0" rtlCol="0" anchor="t"/>
          <a:lstStyle/>
          <a:p>
            <a:pPr indent="0" marL="0">
              <a:buNone/>
            </a:pPr>
            <a:r>
              <a:rPr lang="en-US" sz="1300" dirty="0">
                <a:solidFill>
                  <a:srgbClr val="5B6168"/>
                </a:solidFill>
                <a:latin typeface="Malgun Gothic" pitchFamily="34" charset="0"/>
                <a:ea typeface="Malgun Gothic" pitchFamily="34" charset="-122"/>
                <a:cs typeface="Malgun Gothic" pitchFamily="34" charset="-120"/>
              </a:rPr>
              <a:t>모두 PCB rev.A 발주(9/14) 전에 끝냈다. 피에조 방전 저항 R61 누락도 같은 검토에서 찾아 추가했다.</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규칙은 내가 정하고, 화면은 Claude 로 만들었다</a:t>
            </a:r>
            <a:endParaRPr lang="en-US" sz="3000" dirty="0"/>
          </a:p>
        </p:txBody>
      </p:sp>
      <p:pic>
        <p:nvPicPr>
          <p:cNvPr id="3" name="Image 0" descr="IDEC 페이지. 회로도 7장 분할과 심볼, 풋프린트 대응표">    </p:cNvPr>
          <p:cNvPicPr>
            <a:picLocks noChangeAspect="1"/>
          </p:cNvPicPr>
          <p:nvPr/>
        </p:nvPicPr>
        <p:blipFill>
          <a:blip r:embed="rId1"/>
          <a:stretch>
            <a:fillRect/>
          </a:stretch>
        </p:blipFill>
        <p:spPr>
          <a:xfrm>
            <a:off x="548640" y="1325880"/>
            <a:ext cx="5760720" cy="2786581"/>
          </a:xfrm>
          <a:prstGeom prst="rect">
            <a:avLst/>
          </a:prstGeom>
        </p:spPr>
      </p:pic>
      <p:sp>
        <p:nvSpPr>
          <p:cNvPr id="4" name="Text 1"/>
          <p:cNvSpPr txBox="1"/>
          <p:nvPr/>
        </p:nvSpPr>
        <p:spPr>
          <a:xfrm>
            <a:off x="548640" y="4185613"/>
            <a:ext cx="5760720" cy="457200"/>
          </a:xfrm>
          <a:prstGeom prst="rect">
            <a:avLst/>
          </a:prstGeom>
          <a:noFill/>
          <a:ln/>
        </p:spPr>
        <p:txBody>
          <a:bodyPr wrap="square" lIns="0" tIns="0" rIns="0" bIns="0" rtlCol="0" anchor="t"/>
          <a:lstStyle/>
          <a:p>
            <a:pPr indent="0" marL="0">
              <a:buNone/>
            </a:pPr>
            <a:r>
              <a:rPr lang="en-US" sz="1100" dirty="0">
                <a:solidFill>
                  <a:srgbClr val="5B6168"/>
                </a:solidFill>
                <a:latin typeface="Malgun Gothic" pitchFamily="34" charset="0"/>
                <a:ea typeface="Malgun Gothic" pitchFamily="34" charset="-122"/>
                <a:cs typeface="Malgun Gothic" pitchFamily="34" charset="-120"/>
              </a:rPr>
              <a:t>IDEC 페이지. 넷리스트에서 부품 155개, 네트 128개를 읽어 회로도 7장 분할과 심볼, 풋프린트 대응표를 만든다</a:t>
            </a:r>
            <a:endParaRPr lang="en-US" sz="1100" dirty="0"/>
          </a:p>
        </p:txBody>
      </p:sp>
      <p:sp>
        <p:nvSpPr>
          <p:cNvPr id="5" name="build-ax-output"/>
          <p:cNvSpPr/>
          <p:nvPr/>
        </p:nvSpPr>
        <p:spPr>
          <a:xfrm>
            <a:off x="548640" y="4754880"/>
            <a:ext cx="5760720" cy="1325880"/>
          </a:xfrm>
          <a:prstGeom prst="roundRect">
            <a:avLst>
              <a:gd name="adj" fmla="val 5517"/>
            </a:avLst>
          </a:prstGeom>
          <a:solidFill>
            <a:srgbClr val="17202A"/>
          </a:solidFill>
          <a:ln/>
        </p:spPr>
      </p:sp>
      <p:sp>
        <p:nvSpPr>
          <p:cNvPr id="6" name="Text 3"/>
          <p:cNvSpPr txBox="1"/>
          <p:nvPr/>
        </p:nvSpPr>
        <p:spPr>
          <a:xfrm>
            <a:off x="777240" y="4864608"/>
            <a:ext cx="5303520" cy="274320"/>
          </a:xfrm>
          <a:prstGeom prst="rect">
            <a:avLst/>
          </a:prstGeom>
          <a:noFill/>
          <a:ln/>
        </p:spPr>
        <p:txBody>
          <a:bodyPr wrap="square" lIns="0" tIns="0" rIns="0" bIns="0" rtlCol="0" anchor="t"/>
          <a:lstStyle/>
          <a:p>
            <a:pPr indent="0" marL="0">
              <a:buNone/>
            </a:pPr>
            <a:r>
              <a:rPr lang="en-US" sz="1200" dirty="0">
                <a:solidFill>
                  <a:srgbClr val="AEB6BF"/>
                </a:solidFill>
                <a:latin typeface="Consolas" pitchFamily="34" charset="0"/>
                <a:ea typeface="Consolas" pitchFamily="34" charset="-122"/>
                <a:cs typeface="Consolas" pitchFamily="34" charset="-120"/>
              </a:rPr>
              <a:t>$ python build_ax.py</a:t>
            </a:r>
            <a:endParaRPr lang="en-US" sz="1200" dirty="0"/>
          </a:p>
        </p:txBody>
      </p:sp>
      <p:sp>
        <p:nvSpPr>
          <p:cNvPr id="7" name="Text 4"/>
          <p:cNvSpPr txBox="1"/>
          <p:nvPr/>
        </p:nvSpPr>
        <p:spPr>
          <a:xfrm>
            <a:off x="777240" y="5184648"/>
            <a:ext cx="5303520" cy="50292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일정 72건 → 61건</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ax/ 파일 11개, 검사한 낱말 50개</a:t>
            </a:r>
            <a:endParaRPr lang="en-US" sz="1200" dirty="0"/>
          </a:p>
        </p:txBody>
      </p:sp>
      <p:sp>
        <p:nvSpPr>
          <p:cNvPr id="8" name="Text 5"/>
          <p:cNvSpPr txBox="1"/>
          <p:nvPr/>
        </p:nvSpPr>
        <p:spPr>
          <a:xfrm>
            <a:off x="777240" y="5687568"/>
            <a:ext cx="5303520" cy="274320"/>
          </a:xfrm>
          <a:prstGeom prst="rect">
            <a:avLst/>
          </a:prstGeom>
          <a:noFill/>
          <a:ln/>
        </p:spPr>
        <p:txBody>
          <a:bodyPr wrap="square" lIns="0" tIns="0" rIns="0" bIns="0" rtlCol="0" anchor="t"/>
          <a:lstStyle/>
          <a:p>
            <a:pPr indent="0" marL="0">
              <a:buNone/>
            </a:pPr>
            <a:r>
              <a:rPr lang="en-US" sz="1200" b="1" dirty="0">
                <a:solidFill>
                  <a:srgbClr val="7EE2A8"/>
                </a:solidFill>
                <a:latin typeface="Consolas" pitchFamily="34" charset="0"/>
                <a:ea typeface="Consolas" pitchFamily="34" charset="-122"/>
                <a:cs typeface="Consolas" pitchFamily="34" charset="-120"/>
              </a:rPr>
              <a:t>남은 것: 없음</a:t>
            </a:r>
            <a:endParaRPr lang="en-US" sz="1200" dirty="0"/>
          </a:p>
        </p:txBody>
      </p:sp>
      <p:sp>
        <p:nvSpPr>
          <p:cNvPr id="9" name="doc-rules"/>
          <p:cNvSpPr/>
          <p:nvPr/>
        </p:nvSpPr>
        <p:spPr>
          <a:xfrm>
            <a:off x="6629400" y="1325880"/>
            <a:ext cx="5013655" cy="4754880"/>
          </a:xfrm>
          <a:prstGeom prst="roundRect">
            <a:avLst>
              <a:gd name="adj" fmla="val 1538"/>
            </a:avLst>
          </a:prstGeom>
          <a:solidFill>
            <a:srgbClr val="F3F5F7"/>
          </a:solidFill>
          <a:ln/>
        </p:spPr>
      </p:sp>
      <p:sp>
        <p:nvSpPr>
          <p:cNvPr id="10" name="Text 7"/>
          <p:cNvSpPr txBox="1"/>
          <p:nvPr/>
        </p:nvSpPr>
        <p:spPr>
          <a:xfrm>
            <a:off x="6903720" y="1508760"/>
            <a:ext cx="4465015" cy="365760"/>
          </a:xfrm>
          <a:prstGeom prst="rect">
            <a:avLst/>
          </a:prstGeom>
          <a:noFill/>
          <a:ln/>
        </p:spPr>
        <p:txBody>
          <a:bodyPr wrap="square" lIns="0" tIns="0" rIns="0" bIns="0" rtlCol="0" anchor="t"/>
          <a:lstStyle/>
          <a:p>
            <a:pPr indent="0" marL="0">
              <a:buNone/>
            </a:pPr>
            <a:r>
              <a:rPr lang="en-US" sz="1700" b="1" dirty="0">
                <a:solidFill>
                  <a:srgbClr val="2A78D6"/>
                </a:solidFill>
                <a:latin typeface="Malgun Gothic" pitchFamily="34" charset="0"/>
                <a:ea typeface="Malgun Gothic" pitchFamily="34" charset="-122"/>
                <a:cs typeface="Malgun Gothic" pitchFamily="34" charset="-120"/>
              </a:rPr>
              <a:t>직접 정한 규칙</a:t>
            </a:r>
            <a:endParaRPr lang="en-US" sz="1700" dirty="0"/>
          </a:p>
        </p:txBody>
      </p:sp>
      <p:sp>
        <p:nvSpPr>
          <p:cNvPr id="11" name="Text 8"/>
          <p:cNvSpPr txBox="1"/>
          <p:nvPr/>
        </p:nvSpPr>
        <p:spPr>
          <a:xfrm>
            <a:off x="6903720" y="2011680"/>
            <a:ext cx="4465015" cy="3931920"/>
          </a:xfrm>
          <a:prstGeom prst="rect">
            <a:avLst/>
          </a:prstGeom>
          <a:noFill/>
          <a:ln/>
        </p:spPr>
        <p:txBody>
          <a:bodyPr wrap="square" lIns="0" tIns="0" rIns="0" bIns="0" rtlCol="0" anchor="t"/>
          <a:lstStyle/>
          <a:p>
            <a:pPr marL="342900" indent="-342900">
              <a:spcAft>
                <a:spcPts val="1100"/>
              </a:spcAft>
              <a:buSzPct val="100000"/>
              <a:buChar char="•"/>
            </a:pPr>
            <a:r>
              <a:rPr lang="en-US" sz="1450" dirty="0">
                <a:solidFill>
                  <a:srgbClr val="1F2328"/>
                </a:solidFill>
                <a:latin typeface="Malgun Gothic" pitchFamily="34" charset="0"/>
                <a:ea typeface="Malgun Gothic" pitchFamily="34" charset="-122"/>
                <a:cs typeface="Malgun Gothic" pitchFamily="34" charset="-120"/>
              </a:rPr>
              <a:t>정본은 하나. 손으로 고치는 파일과 뽑아내는 파일을 나누고, 뽑아낸 파일은 손으로 고치지 않는다. 회로가 바뀌면 python build_idec.py</a:t>
            </a:r>
            <a:endParaRPr lang="en-US" sz="1450" dirty="0"/>
          </a:p>
          <a:p>
            <a:pPr marL="342900" indent="-342900">
              <a:spcAft>
                <a:spcPts val="1100"/>
              </a:spcAft>
              <a:buSzPct val="100000"/>
              <a:buChar char="•"/>
            </a:pPr>
            <a:r>
              <a:rPr lang="en-US" sz="1450" dirty="0">
                <a:solidFill>
                  <a:srgbClr val="1F2328"/>
                </a:solidFill>
                <a:latin typeface="Malgun Gothic" pitchFamily="34" charset="0"/>
                <a:ea typeface="Malgun Gothic" pitchFamily="34" charset="-122"/>
                <a:cs typeface="Malgun Gothic" pitchFamily="34" charset="-120"/>
              </a:rPr>
              <a:t>빌드 도구와 서버 없이 더블클릭으로 열린다. 데이터를 .js 로 두어 file:// 에서도 읽힌다</a:t>
            </a:r>
            <a:endParaRPr lang="en-US" sz="1450" dirty="0"/>
          </a:p>
          <a:p>
            <a:pPr marL="342900" indent="-342900">
              <a:spcAft>
                <a:spcPts val="1100"/>
              </a:spcAft>
              <a:buSzPct val="100000"/>
              <a:buChar char="•"/>
            </a:pPr>
            <a:r>
              <a:rPr lang="en-US" sz="1450" dirty="0">
                <a:solidFill>
                  <a:srgbClr val="1F2328"/>
                </a:solidFill>
                <a:latin typeface="Malgun Gothic" pitchFamily="34" charset="0"/>
                <a:ea typeface="Malgun Gothic" pitchFamily="34" charset="-122"/>
                <a:cs typeface="Malgun Gothic" pitchFamily="34" charset="-120"/>
              </a:rPr>
              <a:t>일정 id 는 날짜와 제목의 해시. 일정을 끼워 넣어도 완료 체크가 다른 줄로 옮겨가지 않는다</a:t>
            </a:r>
            <a:endParaRPr lang="en-US" sz="1450" dirty="0"/>
          </a:p>
          <a:p>
            <a:pPr marL="342900" indent="-342900">
              <a:spcAft>
                <a:spcPts val="1100"/>
              </a:spcAft>
              <a:buSzPct val="100000"/>
              <a:buChar char="•"/>
            </a:pPr>
            <a:r>
              <a:rPr lang="en-US" sz="1450" dirty="0">
                <a:solidFill>
                  <a:srgbClr val="1F2328"/>
                </a:solidFill>
                <a:latin typeface="Malgun Gothic" pitchFamily="34" charset="0"/>
                <a:ea typeface="Malgun Gothic" pitchFamily="34" charset="-122"/>
                <a:cs typeface="Malgun Gothic" pitchFamily="34" charset="-120"/>
              </a:rPr>
              <a:t>노션이 주는 UTC 시각은 가져오기 스크립트가 한국 시간으로 바꾼다</a:t>
            </a:r>
            <a:endParaRPr lang="en-US" sz="1450" dirty="0"/>
          </a:p>
          <a:p>
            <a:pPr marL="342900" indent="-342900">
              <a:spcAft>
                <a:spcPts val="1100"/>
              </a:spcAft>
              <a:buSzPct val="100000"/>
              <a:buChar char="•"/>
            </a:pPr>
            <a:r>
              <a:rPr lang="en-US" sz="1450" b="1" dirty="0">
                <a:solidFill>
                  <a:srgbClr val="1F2328"/>
                </a:solidFill>
                <a:latin typeface="Malgun Gothic" pitchFamily="34" charset="0"/>
                <a:ea typeface="Malgun Gothic" pitchFamily="34" charset="-122"/>
                <a:cs typeface="Malgun Gothic" pitchFamily="34" charset="-120"/>
              </a:rPr>
              <a:t>밖으로 내보낼 범위는 스크립트가 정한다. 이 제출본도 내보낼 페이지만 고르고 뺀 내용이 남았는지 검사해 만들었다</a:t>
            </a:r>
            <a:endParaRPr lang="en-US" sz="14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algn="l" indent="0" marL="0">
              <a:buNone/>
            </a:pPr>
            <a:r>
              <a:rPr lang="en-US" sz="3000" b="1" dirty="0">
                <a:solidFill>
                  <a:srgbClr val="1F2328"/>
                </a:solidFill>
                <a:latin typeface="Malgun Gothic" pitchFamily="34" charset="0"/>
                <a:ea typeface="Malgun Gothic" pitchFamily="34" charset="-122"/>
                <a:cs typeface="Malgun Gothic" pitchFamily="34" charset="-120"/>
              </a:rPr>
              <a:t>부록: 실행 방법과 파일 구조</a:t>
            </a:r>
            <a:endParaRPr lang="en-US" sz="3000" dirty="0"/>
          </a:p>
        </p:txBody>
      </p:sp>
      <p:sp>
        <p:nvSpPr>
          <p:cNvPr id="3" name="Text 1"/>
          <p:cNvSpPr txBox="1"/>
          <p:nvPr/>
        </p:nvSpPr>
        <p:spPr>
          <a:xfrm>
            <a:off x="548640" y="1371600"/>
            <a:ext cx="11094415" cy="2103120"/>
          </a:xfrm>
          <a:prstGeom prst="rect">
            <a:avLst/>
          </a:prstGeom>
          <a:noFill/>
          <a:ln/>
        </p:spPr>
        <p:txBody>
          <a:bodyPr wrap="square" lIns="0" tIns="0" rIns="0" bIns="0" rtlCol="0" anchor="t"/>
          <a:lstStyle/>
          <a:p>
            <a:pPr indent="0" marL="0">
              <a:spcAft>
                <a:spcPts val="400"/>
              </a:spcAft>
              <a:buNone/>
            </a:pPr>
            <a:r>
              <a:rPr lang="en-US" sz="1600" b="1" dirty="0">
                <a:solidFill>
                  <a:srgbClr val="1F2328"/>
                </a:solidFill>
                <a:latin typeface="Consolas" pitchFamily="34" charset="0"/>
                <a:ea typeface="Consolas" pitchFamily="34" charset="-122"/>
                <a:cs typeface="Consolas" pitchFamily="34" charset="-120"/>
              </a:rPr>
              <a:t>실행</a:t>
            </a:r>
            <a:endParaRPr lang="en-US" sz="1400" dirty="0"/>
          </a:p>
          <a:p>
            <a:pPr indent="0" marL="0">
              <a:spcAft>
                <a:spcPts val="400"/>
              </a:spcAft>
              <a:buNone/>
            </a:pPr>
            <a:r>
              <a:rPr lang="en-US" sz="1400" dirty="0">
                <a:solidFill>
                  <a:srgbClr val="1F2328"/>
                </a:solidFill>
                <a:latin typeface="Consolas" pitchFamily="34" charset="0"/>
                <a:ea typeface="Consolas" pitchFamily="34" charset="-122"/>
                <a:cs typeface="Consolas" pitchFamily="34" charset="-120"/>
              </a:rPr>
              <a:t>시연.html  설치 없이 세 작업의 실제 실행 결과를 본다 (브라우저만 필요)</a:t>
            </a:r>
            <a:endParaRPr lang="en-US" sz="1400" dirty="0"/>
          </a:p>
          <a:p>
            <a:pPr indent="0" marL="0">
              <a:spcAft>
                <a:spcPts val="400"/>
              </a:spcAft>
              <a:buNone/>
            </a:pPr>
            <a:r>
              <a:rPr lang="en-US" sz="1400" dirty="0">
                <a:solidFill>
                  <a:srgbClr val="1F2328"/>
                </a:solidFill>
                <a:latin typeface="Consolas" pitchFamily="34" charset="0"/>
                <a:ea typeface="Consolas" pitchFamily="34" charset="-122"/>
                <a:cs typeface="Consolas" pitchFamily="34" charset="-120"/>
              </a:rPr>
              <a:t>run_demo.bat  Python 3.10 이상인 PC 에서 새 질문 입력 (패키지 설치에 인터넷 필요)</a:t>
            </a:r>
            <a:endParaRPr lang="en-US" sz="1400" dirty="0"/>
          </a:p>
          <a:p>
            <a:pPr indent="0" marL="0">
              <a:spcAft>
                <a:spcPts val="400"/>
              </a:spcAft>
              <a:buNone/>
            </a:pPr>
            <a:r>
              <a:rPr lang="en-US" sz="1400" dirty="0">
                <a:solidFill>
                  <a:srgbClr val="1F2328"/>
                </a:solidFill>
                <a:latin typeface="Consolas" pitchFamily="34" charset="0"/>
                <a:ea typeface="Consolas" pitchFamily="34" charset="-122"/>
                <a:cs typeface="Consolas" pitchFamily="34" charset="-120"/>
              </a:rPr>
              <a:t>03_local_docs/index.html  더블클릭하면 문서 관리 화면 (브라우저만 필요)</a:t>
            </a:r>
            <a:endParaRPr lang="en-US" sz="1400" dirty="0"/>
          </a:p>
          <a:p>
            <a:pPr indent="0" marL="0">
              <a:spcAft>
                <a:spcPts val="400"/>
              </a:spcAft>
              <a:buNone/>
            </a:pPr>
            <a:r>
              <a:rPr lang="en-US" sz="1400" dirty="0">
                <a:solidFill>
                  <a:srgbClr val="1F2328"/>
                </a:solidFill>
                <a:latin typeface="Consolas" pitchFamily="34" charset="0"/>
                <a:ea typeface="Consolas" pitchFamily="34" charset="-122"/>
                <a:cs typeface="Consolas" pitchFamily="34" charset="-120"/>
              </a:rPr>
              <a:t>python -m src.query "CH334U의 동작 전압은?"</a:t>
            </a:r>
            <a:endParaRPr lang="en-US" sz="1400" dirty="0"/>
          </a:p>
          <a:p>
            <a:pPr indent="0" marL="0">
              <a:spcAft>
                <a:spcPts val="400"/>
              </a:spcAft>
              <a:buNone/>
            </a:pPr>
            <a:r>
              <a:rPr lang="en-US" sz="1400" dirty="0">
                <a:solidFill>
                  <a:srgbClr val="1F2328"/>
                </a:solidFill>
                <a:latin typeface="Consolas" pitchFamily="34" charset="0"/>
                <a:ea typeface="Consolas" pitchFamily="34" charset="-122"/>
                <a:cs typeface="Consolas" pitchFamily="34" charset="-120"/>
              </a:rPr>
              <a:t>python evaluate.py  /  python calibrate.py  /  python evaluate_answers.py</a:t>
            </a:r>
            <a:endParaRPr lang="en-US" sz="1400" dirty="0"/>
          </a:p>
          <a:p>
            <a:pPr indent="0" marL="0">
              <a:spcAft>
                <a:spcPts val="400"/>
              </a:spcAft>
              <a:buNone/>
            </a:pPr>
            <a:r>
              <a:rPr lang="en-US" sz="1400" dirty="0">
                <a:solidFill>
                  <a:srgbClr val="5B6168"/>
                </a:solidFill>
                <a:latin typeface="Consolas" pitchFamily="34" charset="0"/>
                <a:ea typeface="Consolas" pitchFamily="34" charset="-122"/>
                <a:cs typeface="Consolas" pitchFamily="34" charset="-120"/>
              </a:rPr>
              <a:t>API 키는 .env 에. 없어도 검색, 차단 판정, 검증 결과 탭은 동작</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11094415" cy="914400"/>
        </p:xfrm>
        <a:graphic>
          <a:graphicData uri="http://schemas.openxmlformats.org/drawingml/2006/table">
            <a:tbl>
              <a:tblPr/>
              <a:tblGrid>
                <a:gridCol w="4023360"/>
                <a:gridCol w="7071055"/>
              </a:tblGrid>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src/pipeline.py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질문부터 답변까지, 단계별 판정을 기록</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src/variants.py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품번 추출, 변종 게이트 판정</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src/lexical.py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문자 n-gram BM25</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src/evidence.py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근거 충분성 판정</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src/answer_check.py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답변 원문 대조</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src/llm.py</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로컬(Ollama), OpenAI, Anthropic 호출을 같은 형태로</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347472">
                <a:tc>
                  <a:txBody>
                    <a:bodyPr/>
                    <a:lstStyle/>
                    <a:p>
                      <a:pPr indent="0" marL="0">
                        <a:buNone/>
                      </a:pPr>
                      <a:r>
                        <a:rPr lang="en-US" sz="1300" b="1" dirty="0">
                          <a:solidFill>
                            <a:srgbClr val="000000"/>
                          </a:solidFill>
                          <a:latin typeface="Consolas" pitchFamily="34" charset="0"/>
                          <a:ea typeface="Consolas" pitchFamily="34" charset="-122"/>
                          <a:cs typeface="Consolas" pitchFamily="34" charset="-120"/>
                        </a:rPr>
                        <a:t>tests/evaluation_questions.json</a:t>
                      </a:r>
                      <a:endParaRPr lang="en-US" sz="1300" dirty="0">
                        <a:latin typeface="Consolas" charset="0"/>
                        <a:ea typeface="Consolas" charset="0"/>
                        <a:cs typeface="Consolas"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300" dirty="0">
                          <a:solidFill>
                            <a:srgbClr val="000000"/>
                          </a:solidFill>
                          <a:latin typeface="Malgun Gothic" pitchFamily="34" charset="0"/>
                          <a:ea typeface="Malgun Gothic" pitchFamily="34" charset="-122"/>
                          <a:cs typeface="Malgun Gothic" pitchFamily="34" charset="-120"/>
                        </a:rPr>
                        <a:t>평가셋 38문항, 정답 출처 페이지 포함</a:t>
                      </a:r>
                      <a:endParaRPr lang="en-US" sz="1300" dirty="0">
                        <a:latin typeface="Malgun Gothic" charset="0"/>
                        <a:ea typeface="Malgun Gothic" charset="0"/>
                        <a:cs typeface="Malgun Gothic" charset="0"/>
                      </a:endParaRPr>
                    </a:p>
                  </a:txBody>
                  <a:tcPr marL="109728" marR="109728"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68"/>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Datasheet Search">
  <a:themeElements>
    <a:clrScheme name="Datasheet Search">
      <a:dk1>
        <a:srgbClr val="1F2328"/>
      </a:dk1>
      <a:lt1>
        <a:srgbClr val="FFFFFF"/>
      </a:lt1>
      <a:dk2>
        <a:srgbClr val="17202A"/>
      </a:dk2>
      <a:lt2>
        <a:srgbClr val="F3F5F7"/>
      </a:lt2>
      <a:accent1>
        <a:srgbClr val="2A78D6"/>
      </a:accent1>
      <a:accent2>
        <a:srgbClr val="D2551F"/>
      </a:accent2>
      <a:accent3>
        <a:srgbClr val="1BAF7A"/>
      </a:accent3>
      <a:accent4>
        <a:srgbClr val="EDA100"/>
      </a:accent4>
      <a:accent5>
        <a:srgbClr val="6250D6"/>
      </a:accent5>
      <a:accent6>
        <a:srgbClr val="5B6168"/>
      </a:accent6>
      <a:hlink>
        <a:srgbClr val="2A78D6"/>
      </a:hlink>
      <a:folHlink>
        <a:srgbClr val="6250D6"/>
      </a:folHlink>
    </a:clrScheme>
    <a:fontScheme name="Datasheet Search">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데이터시트 검색 도구</dc:title>
  <dc:subject>PptxGenJS Presentation</dc:subject>
  <dc:creator>PptxGenJS</dc:creator>
  <cp:lastModifiedBy>PptxGenJS</cp:lastModifiedBy>
  <cp:revision>1</cp:revision>
  <dcterms:created xsi:type="dcterms:W3CDTF">2026-10-27T03:16:55Z</dcterms:created>
  <dcterms:modified xsi:type="dcterms:W3CDTF">2026-10-27T03:16:55Z</dcterms:modified>
</cp:coreProperties>
</file>